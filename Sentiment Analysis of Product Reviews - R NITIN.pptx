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92" r:id="rId5"/>
    <p:sldId id="275" r:id="rId6"/>
    <p:sldId id="276" r:id="rId7"/>
    <p:sldId id="256" r:id="rId8"/>
    <p:sldId id="312" r:id="rId9"/>
    <p:sldId id="313" r:id="rId10"/>
    <p:sldId id="314" r:id="rId11"/>
    <p:sldId id="332" r:id="rId12"/>
    <p:sldId id="316" r:id="rId13"/>
    <p:sldId id="319" r:id="rId14"/>
    <p:sldId id="321" r:id="rId15"/>
    <p:sldId id="334" r:id="rId16"/>
    <p:sldId id="328" r:id="rId17"/>
    <p:sldId id="323" r:id="rId18"/>
    <p:sldId id="32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AC32CA-0B4E-43C1-9279-D3D4E360B0EB}" v="99" dt="2025-05-03T16:21:08.10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snapToGrid="0" showGuides="1">
      <p:cViewPr varScale="1">
        <p:scale>
          <a:sx n="85" d="100"/>
          <a:sy n="85" d="100"/>
        </p:scale>
        <p:origin x="518" y="67"/>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24F876-69EA-4231-9F3F-A88FF6787576}" type="doc">
      <dgm:prSet loTypeId="urn:microsoft.com/office/officeart/2005/8/layout/process1" loCatId="process" qsTypeId="urn:microsoft.com/office/officeart/2005/8/quickstyle/simple1" qsCatId="simple" csTypeId="urn:microsoft.com/office/officeart/2005/8/colors/colorful4" csCatId="colorful"/>
      <dgm:spPr/>
      <dgm:t>
        <a:bodyPr/>
        <a:lstStyle/>
        <a:p>
          <a:endParaRPr lang="en-IN"/>
        </a:p>
      </dgm:t>
    </dgm:pt>
    <dgm:pt modelId="{118711E4-27DA-4144-AA6F-02CDA9441C90}">
      <dgm:prSet/>
      <dgm:spPr/>
      <dgm:t>
        <a:bodyPr/>
        <a:lstStyle/>
        <a:p>
          <a:r>
            <a:rPr lang="en-IN" b="1" dirty="0"/>
            <a:t>DATA PREPROCESSING</a:t>
          </a:r>
          <a:endParaRPr lang="en-IN" dirty="0"/>
        </a:p>
      </dgm:t>
    </dgm:pt>
    <dgm:pt modelId="{8848EA74-0D61-48FA-8EA5-C8F768DD6B41}" type="parTrans" cxnId="{1EECFD30-9DB6-4093-A1F1-49F925C266CB}">
      <dgm:prSet/>
      <dgm:spPr/>
      <dgm:t>
        <a:bodyPr/>
        <a:lstStyle/>
        <a:p>
          <a:endParaRPr lang="en-IN"/>
        </a:p>
      </dgm:t>
    </dgm:pt>
    <dgm:pt modelId="{CD6D3565-8251-4411-B799-B1F3F479028E}" type="sibTrans" cxnId="{1EECFD30-9DB6-4093-A1F1-49F925C266CB}">
      <dgm:prSet/>
      <dgm:spPr/>
      <dgm:t>
        <a:bodyPr/>
        <a:lstStyle/>
        <a:p>
          <a:endParaRPr lang="en-IN"/>
        </a:p>
      </dgm:t>
    </dgm:pt>
    <dgm:pt modelId="{39BC4468-EC1B-4BB2-A2DD-6CC5CC10ACE5}" type="pres">
      <dgm:prSet presAssocID="{F024F876-69EA-4231-9F3F-A88FF6787576}" presName="Name0" presStyleCnt="0">
        <dgm:presLayoutVars>
          <dgm:dir/>
          <dgm:resizeHandles val="exact"/>
        </dgm:presLayoutVars>
      </dgm:prSet>
      <dgm:spPr/>
    </dgm:pt>
    <dgm:pt modelId="{EA677F92-EBEC-4A18-A81A-3ACD5648B563}" type="pres">
      <dgm:prSet presAssocID="{118711E4-27DA-4144-AA6F-02CDA9441C90}" presName="node" presStyleLbl="node1" presStyleIdx="0" presStyleCnt="1">
        <dgm:presLayoutVars>
          <dgm:bulletEnabled val="1"/>
        </dgm:presLayoutVars>
      </dgm:prSet>
      <dgm:spPr/>
    </dgm:pt>
  </dgm:ptLst>
  <dgm:cxnLst>
    <dgm:cxn modelId="{1EECFD30-9DB6-4093-A1F1-49F925C266CB}" srcId="{F024F876-69EA-4231-9F3F-A88FF6787576}" destId="{118711E4-27DA-4144-AA6F-02CDA9441C90}" srcOrd="0" destOrd="0" parTransId="{8848EA74-0D61-48FA-8EA5-C8F768DD6B41}" sibTransId="{CD6D3565-8251-4411-B799-B1F3F479028E}"/>
    <dgm:cxn modelId="{100E617C-B5AA-44D1-B549-5B73047461BA}" type="presOf" srcId="{118711E4-27DA-4144-AA6F-02CDA9441C90}" destId="{EA677F92-EBEC-4A18-A81A-3ACD5648B563}" srcOrd="0" destOrd="0" presId="urn:microsoft.com/office/officeart/2005/8/layout/process1"/>
    <dgm:cxn modelId="{67E767C8-78B8-4A53-B8EE-6612CCECEACB}" type="presOf" srcId="{F024F876-69EA-4231-9F3F-A88FF6787576}" destId="{39BC4468-EC1B-4BB2-A2DD-6CC5CC10ACE5}" srcOrd="0" destOrd="0" presId="urn:microsoft.com/office/officeart/2005/8/layout/process1"/>
    <dgm:cxn modelId="{7E289E37-E622-4017-9488-A06E9799A45F}" type="presParOf" srcId="{39BC4468-EC1B-4BB2-A2DD-6CC5CC10ACE5}" destId="{EA677F92-EBEC-4A18-A81A-3ACD5648B563}"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E431BB-57A0-4DA9-BC32-465500892D57}" type="doc">
      <dgm:prSet loTypeId="urn:microsoft.com/office/officeart/2005/8/layout/chevron1" loCatId="process" qsTypeId="urn:microsoft.com/office/officeart/2005/8/quickstyle/simple1" qsCatId="simple" csTypeId="urn:microsoft.com/office/officeart/2005/8/colors/colorful4" csCatId="colorful"/>
      <dgm:spPr/>
      <dgm:t>
        <a:bodyPr/>
        <a:lstStyle/>
        <a:p>
          <a:endParaRPr lang="en-IN"/>
        </a:p>
      </dgm:t>
    </dgm:pt>
    <dgm:pt modelId="{97F61810-1BD0-4456-8473-E311A05C21BD}">
      <dgm:prSet custT="1"/>
      <dgm:spPr/>
      <dgm:t>
        <a:bodyPr/>
        <a:lstStyle/>
        <a:p>
          <a:r>
            <a:rPr lang="en-IN" sz="4000" b="1" dirty="0"/>
            <a:t>Exploratory Data Analysis</a:t>
          </a:r>
          <a:endParaRPr lang="en-IN" sz="4000" dirty="0"/>
        </a:p>
      </dgm:t>
    </dgm:pt>
    <dgm:pt modelId="{99C6AFFB-7793-4A88-9926-A6FFB28DF008}" type="parTrans" cxnId="{7C3CB544-9CBD-41C5-BA2A-4F651BE2E12B}">
      <dgm:prSet/>
      <dgm:spPr/>
      <dgm:t>
        <a:bodyPr/>
        <a:lstStyle/>
        <a:p>
          <a:endParaRPr lang="en-IN"/>
        </a:p>
      </dgm:t>
    </dgm:pt>
    <dgm:pt modelId="{E5B6311E-B43E-4C60-B2F7-F4232E87EF18}" type="sibTrans" cxnId="{7C3CB544-9CBD-41C5-BA2A-4F651BE2E12B}">
      <dgm:prSet/>
      <dgm:spPr/>
      <dgm:t>
        <a:bodyPr/>
        <a:lstStyle/>
        <a:p>
          <a:endParaRPr lang="en-IN"/>
        </a:p>
      </dgm:t>
    </dgm:pt>
    <dgm:pt modelId="{F014201C-3BB4-424E-AE14-C1D721086F72}" type="pres">
      <dgm:prSet presAssocID="{13E431BB-57A0-4DA9-BC32-465500892D57}" presName="Name0" presStyleCnt="0">
        <dgm:presLayoutVars>
          <dgm:dir/>
          <dgm:animLvl val="lvl"/>
          <dgm:resizeHandles val="exact"/>
        </dgm:presLayoutVars>
      </dgm:prSet>
      <dgm:spPr/>
    </dgm:pt>
    <dgm:pt modelId="{1A5BB039-AD21-4D9E-AC72-85581AD94DE2}" type="pres">
      <dgm:prSet presAssocID="{97F61810-1BD0-4456-8473-E311A05C21BD}" presName="parTxOnly" presStyleLbl="node1" presStyleIdx="0" presStyleCnt="1">
        <dgm:presLayoutVars>
          <dgm:chMax val="0"/>
          <dgm:chPref val="0"/>
          <dgm:bulletEnabled val="1"/>
        </dgm:presLayoutVars>
      </dgm:prSet>
      <dgm:spPr/>
    </dgm:pt>
  </dgm:ptLst>
  <dgm:cxnLst>
    <dgm:cxn modelId="{7C3CB544-9CBD-41C5-BA2A-4F651BE2E12B}" srcId="{13E431BB-57A0-4DA9-BC32-465500892D57}" destId="{97F61810-1BD0-4456-8473-E311A05C21BD}" srcOrd="0" destOrd="0" parTransId="{99C6AFFB-7793-4A88-9926-A6FFB28DF008}" sibTransId="{E5B6311E-B43E-4C60-B2F7-F4232E87EF18}"/>
    <dgm:cxn modelId="{6A20BC59-1FC4-46DE-A455-597E1F8126A0}" type="presOf" srcId="{13E431BB-57A0-4DA9-BC32-465500892D57}" destId="{F014201C-3BB4-424E-AE14-C1D721086F72}" srcOrd="0" destOrd="0" presId="urn:microsoft.com/office/officeart/2005/8/layout/chevron1"/>
    <dgm:cxn modelId="{5BE93E9A-BD09-4021-9755-11677A0E1AB1}" type="presOf" srcId="{97F61810-1BD0-4456-8473-E311A05C21BD}" destId="{1A5BB039-AD21-4D9E-AC72-85581AD94DE2}" srcOrd="0" destOrd="0" presId="urn:microsoft.com/office/officeart/2005/8/layout/chevron1"/>
    <dgm:cxn modelId="{8C7778B9-4F15-4BFE-B03A-7E9E5FB2FFC8}" type="presParOf" srcId="{F014201C-3BB4-424E-AE14-C1D721086F72}" destId="{1A5BB039-AD21-4D9E-AC72-85581AD94DE2}" srcOrd="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1703A8-E534-4C5B-9298-59A5CD0FB069}" type="doc">
      <dgm:prSet loTypeId="urn:microsoft.com/office/officeart/2005/8/layout/process1" loCatId="process" qsTypeId="urn:microsoft.com/office/officeart/2005/8/quickstyle/simple1" qsCatId="simple" csTypeId="urn:microsoft.com/office/officeart/2005/8/colors/colorful4" csCatId="colorful" phldr="1"/>
      <dgm:spPr/>
      <dgm:t>
        <a:bodyPr/>
        <a:lstStyle/>
        <a:p>
          <a:endParaRPr lang="en-IN"/>
        </a:p>
      </dgm:t>
    </dgm:pt>
    <dgm:pt modelId="{F6780EE2-AE64-4766-848B-6F1A9EC45AC5}">
      <dgm:prSet custT="1"/>
      <dgm:spPr>
        <a:solidFill>
          <a:srgbClr val="F7932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spcFirstLastPara="0" vert="horz" wrap="square" lIns="186690" tIns="186690" rIns="186690" bIns="186690" numCol="1" spcCol="1270" anchor="ctr" anchorCtr="0"/>
        <a:lstStyle/>
        <a:p>
          <a:pPr marL="0" lvl="0" indent="0" algn="ctr" defTabSz="2178050">
            <a:lnSpc>
              <a:spcPct val="90000"/>
            </a:lnSpc>
            <a:spcBef>
              <a:spcPct val="0"/>
            </a:spcBef>
            <a:spcAft>
              <a:spcPct val="35000"/>
            </a:spcAft>
            <a:buNone/>
          </a:pPr>
          <a:r>
            <a:rPr lang="en-IN" sz="4900" b="1" kern="1200">
              <a:solidFill>
                <a:srgbClr val="FFFFFF"/>
              </a:solidFill>
              <a:latin typeface="Abadi"/>
              <a:ea typeface="+mn-ea"/>
              <a:cs typeface="+mn-cs"/>
            </a:rPr>
            <a:t>Model Selection</a:t>
          </a:r>
        </a:p>
      </dgm:t>
    </dgm:pt>
    <dgm:pt modelId="{4EC44089-2711-4BEE-AEEB-FCB75CD4F81C}" type="parTrans" cxnId="{8887EBF8-38EE-4617-9ADA-3955FAE6D6F6}">
      <dgm:prSet/>
      <dgm:spPr/>
      <dgm:t>
        <a:bodyPr/>
        <a:lstStyle/>
        <a:p>
          <a:endParaRPr lang="en-IN"/>
        </a:p>
      </dgm:t>
    </dgm:pt>
    <dgm:pt modelId="{6483D92A-9C5D-48B4-B21F-897A1DBB9CB7}" type="sibTrans" cxnId="{8887EBF8-38EE-4617-9ADA-3955FAE6D6F6}">
      <dgm:prSet/>
      <dgm:spPr/>
      <dgm:t>
        <a:bodyPr/>
        <a:lstStyle/>
        <a:p>
          <a:endParaRPr lang="en-IN"/>
        </a:p>
      </dgm:t>
    </dgm:pt>
    <dgm:pt modelId="{547E0D48-98A3-41AC-92D6-421818A31012}" type="pres">
      <dgm:prSet presAssocID="{2E1703A8-E534-4C5B-9298-59A5CD0FB069}" presName="Name0" presStyleCnt="0">
        <dgm:presLayoutVars>
          <dgm:dir/>
          <dgm:resizeHandles val="exact"/>
        </dgm:presLayoutVars>
      </dgm:prSet>
      <dgm:spPr/>
    </dgm:pt>
    <dgm:pt modelId="{04893B11-388C-40FB-81B4-5F6B1B1450EB}" type="pres">
      <dgm:prSet presAssocID="{F6780EE2-AE64-4766-848B-6F1A9EC45AC5}" presName="node" presStyleLbl="node1" presStyleIdx="0" presStyleCnt="1">
        <dgm:presLayoutVars>
          <dgm:bulletEnabled val="1"/>
        </dgm:presLayoutVars>
      </dgm:prSet>
      <dgm:spPr>
        <a:xfrm>
          <a:off x="5134" y="0"/>
          <a:ext cx="10505330" cy="1325563"/>
        </a:xfrm>
        <a:prstGeom prst="roundRect">
          <a:avLst>
            <a:gd name="adj" fmla="val 10000"/>
          </a:avLst>
        </a:prstGeom>
      </dgm:spPr>
    </dgm:pt>
  </dgm:ptLst>
  <dgm:cxnLst>
    <dgm:cxn modelId="{FE7A1E3D-565E-409A-8080-63E23E32F596}" type="presOf" srcId="{2E1703A8-E534-4C5B-9298-59A5CD0FB069}" destId="{547E0D48-98A3-41AC-92D6-421818A31012}" srcOrd="0" destOrd="0" presId="urn:microsoft.com/office/officeart/2005/8/layout/process1"/>
    <dgm:cxn modelId="{4D778CA2-3672-44FB-9F45-E7FAB883B317}" type="presOf" srcId="{F6780EE2-AE64-4766-848B-6F1A9EC45AC5}" destId="{04893B11-388C-40FB-81B4-5F6B1B1450EB}" srcOrd="0" destOrd="0" presId="urn:microsoft.com/office/officeart/2005/8/layout/process1"/>
    <dgm:cxn modelId="{8887EBF8-38EE-4617-9ADA-3955FAE6D6F6}" srcId="{2E1703A8-E534-4C5B-9298-59A5CD0FB069}" destId="{F6780EE2-AE64-4766-848B-6F1A9EC45AC5}" srcOrd="0" destOrd="0" parTransId="{4EC44089-2711-4BEE-AEEB-FCB75CD4F81C}" sibTransId="{6483D92A-9C5D-48B4-B21F-897A1DBB9CB7}"/>
    <dgm:cxn modelId="{5D6886D9-396A-4D8E-9130-77749132827A}" type="presParOf" srcId="{547E0D48-98A3-41AC-92D6-421818A31012}" destId="{04893B11-388C-40FB-81B4-5F6B1B1450EB}"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677F92-EBEC-4A18-A81A-3ACD5648B563}">
      <dsp:nvSpPr>
        <dsp:cNvPr id="0" name=""/>
        <dsp:cNvSpPr/>
      </dsp:nvSpPr>
      <dsp:spPr>
        <a:xfrm>
          <a:off x="5134" y="0"/>
          <a:ext cx="10505330" cy="109117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IN" sz="5100" b="1" kern="1200" dirty="0"/>
            <a:t>DATA PREPROCESSING</a:t>
          </a:r>
          <a:endParaRPr lang="en-IN" sz="5100" kern="1200" dirty="0"/>
        </a:p>
      </dsp:txBody>
      <dsp:txXfrm>
        <a:off x="37093" y="31959"/>
        <a:ext cx="10441412" cy="10272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5BB039-AD21-4D9E-AC72-85581AD94DE2}">
      <dsp:nvSpPr>
        <dsp:cNvPr id="0" name=""/>
        <dsp:cNvSpPr/>
      </dsp:nvSpPr>
      <dsp:spPr>
        <a:xfrm>
          <a:off x="3428" y="0"/>
          <a:ext cx="7013693" cy="706242"/>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IN" sz="4000" b="1" kern="1200" dirty="0"/>
            <a:t>Exploratory Data Analysis</a:t>
          </a:r>
          <a:endParaRPr lang="en-IN" sz="4000" kern="1200" dirty="0"/>
        </a:p>
      </dsp:txBody>
      <dsp:txXfrm>
        <a:off x="356549" y="0"/>
        <a:ext cx="6307451" cy="7062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893B11-388C-40FB-81B4-5F6B1B1450EB}">
      <dsp:nvSpPr>
        <dsp:cNvPr id="0" name=""/>
        <dsp:cNvSpPr/>
      </dsp:nvSpPr>
      <dsp:spPr>
        <a:xfrm>
          <a:off x="10264" y="0"/>
          <a:ext cx="10495071" cy="1001123"/>
        </a:xfrm>
        <a:prstGeom prst="roundRect">
          <a:avLst>
            <a:gd name="adj" fmla="val 10000"/>
          </a:avLst>
        </a:prstGeom>
        <a:solidFill>
          <a:srgbClr val="F7932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ctr" defTabSz="2178050">
            <a:lnSpc>
              <a:spcPct val="90000"/>
            </a:lnSpc>
            <a:spcBef>
              <a:spcPct val="0"/>
            </a:spcBef>
            <a:spcAft>
              <a:spcPct val="35000"/>
            </a:spcAft>
            <a:buNone/>
          </a:pPr>
          <a:r>
            <a:rPr lang="en-IN" sz="4900" b="1" kern="1200">
              <a:solidFill>
                <a:srgbClr val="FFFFFF"/>
              </a:solidFill>
              <a:latin typeface="Abadi"/>
              <a:ea typeface="+mn-ea"/>
              <a:cs typeface="+mn-cs"/>
            </a:rPr>
            <a:t>Model Selection</a:t>
          </a:r>
        </a:p>
      </dsp:txBody>
      <dsp:txXfrm>
        <a:off x="39586" y="29322"/>
        <a:ext cx="10436427" cy="94247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3/30/2026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3/30/2026</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5688E-AB59-8DAE-2884-E5EF629A4270}"/>
              </a:ext>
            </a:extLst>
          </p:cNvPr>
          <p:cNvSpPr>
            <a:spLocks noGrp="1"/>
          </p:cNvSpPr>
          <p:nvPr>
            <p:ph type="dt" sz="half" idx="10"/>
          </p:nvPr>
        </p:nvSpPr>
        <p:spPr/>
        <p:txBody>
          <a:bodyPr/>
          <a:lstStyle/>
          <a:p>
            <a:fld id="{DE3951B7-5837-40D7-A284-C287FC16DA88}" type="datetimeFigureOut">
              <a:rPr lang="en-IN" smtClean="0"/>
              <a:t>30-03-2026</a:t>
            </a:fld>
            <a:endParaRPr lang="en-IN"/>
          </a:p>
        </p:txBody>
      </p:sp>
      <p:sp>
        <p:nvSpPr>
          <p:cNvPr id="3" name="Footer Placeholder 2">
            <a:extLst>
              <a:ext uri="{FF2B5EF4-FFF2-40B4-BE49-F238E27FC236}">
                <a16:creationId xmlns:a16="http://schemas.microsoft.com/office/drawing/2014/main" id="{041768F9-268D-1E21-05D9-7901D4E1F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8CE354-DFC3-EA2B-05DA-B7154B671742}"/>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61064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2.xml"/><Relationship Id="rId7" Type="http://schemas.openxmlformats.org/officeDocument/2006/relationships/image" Target="../media/image3.jpg"/><Relationship Id="rId2" Type="http://schemas.openxmlformats.org/officeDocument/2006/relationships/diagramData" Target="../diagrams/data2.xml"/><Relationship Id="rId1" Type="http://schemas.openxmlformats.org/officeDocument/2006/relationships/slideLayout" Target="../slideLayouts/slideLayout1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571649" y="2038411"/>
            <a:ext cx="6454588" cy="887727"/>
          </a:xfrm>
        </p:spPr>
        <p:txBody>
          <a:bodyPr>
            <a:normAutofit fontScale="90000"/>
          </a:bodyPr>
          <a:lstStyle/>
          <a:p>
            <a:pPr algn="ctr"/>
            <a:r>
              <a:rPr lang="en-IN" i="0" dirty="0">
                <a:effectLst/>
                <a:latin typeface="Consolas" panose="020B0609020204030204" pitchFamily="49" charset="0"/>
              </a:rPr>
              <a:t>PRODUCT REVIEW SENTIMENT ANALYSIS</a:t>
            </a:r>
            <a:endParaRPr lang="en-US" dirty="0">
              <a:latin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530375" y="3855987"/>
            <a:ext cx="5255906" cy="1248329"/>
          </a:xfrm>
        </p:spPr>
        <p:txBody>
          <a:bodyPr/>
          <a:lstStyle/>
          <a:p>
            <a:pPr algn="just"/>
            <a:r>
              <a:rPr lang="en-US" sz="1600" b="0" i="0" dirty="0">
                <a:effectLst/>
                <a:latin typeface="Calibri" panose="020F0502020204030204" pitchFamily="34" charset="0"/>
                <a:ea typeface="Calibri" panose="020F0502020204030204" pitchFamily="34" charset="0"/>
                <a:cs typeface="Calibri" panose="020F0502020204030204" pitchFamily="34" charset="0"/>
              </a:rPr>
              <a:t>To analyze customer reviews and classify sentiment (positive, negative, or neutral) using text and metadata, enabling better understanding of feedback, identification of strengths and weaknesses, and improved customer experience through actionable insights.</a:t>
            </a:r>
            <a:endPar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1875" r="1875"/>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743186" y="4951252"/>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5" name="Footer Placeholder 7">
            <a:extLst>
              <a:ext uri="{FF2B5EF4-FFF2-40B4-BE49-F238E27FC236}">
                <a16:creationId xmlns:a16="http://schemas.microsoft.com/office/drawing/2014/main" id="{FA9E6E0E-B2A9-7245-14CF-948F1FD2EAF9}"/>
              </a:ext>
            </a:extLst>
          </p:cNvPr>
          <p:cNvSpPr txBox="1">
            <a:spLocks/>
          </p:cNvSpPr>
          <p:nvPr/>
        </p:nvSpPr>
        <p:spPr>
          <a:xfrm>
            <a:off x="9776822" y="6019930"/>
            <a:ext cx="253442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Presented By : R NITIN</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a:xfrm>
            <a:off x="486699" y="3063862"/>
            <a:ext cx="4253399" cy="1740114"/>
          </a:xfrm>
        </p:spPr>
        <p:txBody>
          <a:bodyPr/>
          <a:lstStyle/>
          <a:p>
            <a:r>
              <a:rPr lang="en-US" dirty="0">
                <a:latin typeface="Times New Roman" panose="02020603050405020304" pitchFamily="18" charset="0"/>
                <a:cs typeface="Times New Roman" panose="02020603050405020304" pitchFamily="18" charset="0"/>
              </a:rPr>
              <a:t>INDEX</a:t>
            </a:r>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latin typeface="Times New Roman" panose="02020603050405020304" pitchFamily="18" charset="0"/>
                <a:cs typeface="Times New Roman" panose="02020603050405020304" pitchFamily="18" charset="0"/>
              </a:rPr>
              <a:t>Data Gathering / Data Refinement</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latin typeface="Times New Roman" panose="02020603050405020304" pitchFamily="18" charset="0"/>
                <a:cs typeface="Times New Roman" panose="02020603050405020304" pitchFamily="18" charset="0"/>
              </a:rPr>
              <a:t>Features Extraction</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dirty="0">
                <a:latin typeface="Times New Roman" panose="02020603050405020304" pitchFamily="18" charset="0"/>
                <a:cs typeface="Times New Roman" panose="02020603050405020304" pitchFamily="18" charset="0"/>
              </a:rPr>
              <a:t>Methodology</a:t>
            </a: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a:xfrm>
            <a:off x="8395178" y="4592524"/>
            <a:ext cx="1913128" cy="1075689"/>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a:xfrm>
            <a:off x="11629213" y="6275670"/>
            <a:ext cx="458592" cy="474754"/>
          </a:xfrm>
        </p:spPr>
        <p:txBody>
          <a:bodyPr/>
          <a:lstStyle/>
          <a:p>
            <a:fld id="{47FEACEE-25B4-4A2D-B147-27296E36371D}" type="slidenum">
              <a:rPr lang="en-US" altLang="zh-CN" smtClean="0"/>
              <a:pPr/>
              <a:t>2</a:t>
            </a:fld>
            <a:endParaRPr lang="en-US" altLang="zh-CN" dirty="0"/>
          </a:p>
        </p:txBody>
      </p:sp>
      <p:sp>
        <p:nvSpPr>
          <p:cNvPr id="3" name="Text Placeholder 17">
            <a:extLst>
              <a:ext uri="{FF2B5EF4-FFF2-40B4-BE49-F238E27FC236}">
                <a16:creationId xmlns:a16="http://schemas.microsoft.com/office/drawing/2014/main" id="{4F5E11CD-02C6-49BA-71B2-0BEEF7024E42}"/>
              </a:ext>
            </a:extLst>
          </p:cNvPr>
          <p:cNvSpPr txBox="1">
            <a:spLocks/>
          </p:cNvSpPr>
          <p:nvPr/>
        </p:nvSpPr>
        <p:spPr>
          <a:xfrm>
            <a:off x="5234247" y="2826795"/>
            <a:ext cx="1914694" cy="1089194"/>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pPr>
            <a:r>
              <a:rPr lang="en-US" dirty="0">
                <a:latin typeface="Times New Roman" panose="02020603050405020304" pitchFamily="18" charset="0"/>
                <a:cs typeface="Times New Roman" panose="02020603050405020304" pitchFamily="18" charset="0"/>
              </a:rPr>
              <a:t>Exploratory Data</a:t>
            </a:r>
          </a:p>
          <a:p>
            <a:pPr>
              <a:lnSpc>
                <a:spcPct val="100000"/>
              </a:lnSpc>
              <a:spcBef>
                <a:spcPts val="600"/>
              </a:spcBef>
            </a:pPr>
            <a:r>
              <a:rPr lang="en-US" dirty="0">
                <a:latin typeface="Times New Roman" panose="02020603050405020304" pitchFamily="18" charset="0"/>
                <a:cs typeface="Times New Roman" panose="02020603050405020304" pitchFamily="18" charset="0"/>
              </a:rPr>
              <a:t>Analysis</a:t>
            </a:r>
          </a:p>
        </p:txBody>
      </p:sp>
      <p:sp>
        <p:nvSpPr>
          <p:cNvPr id="4" name="Text Placeholder 17">
            <a:extLst>
              <a:ext uri="{FF2B5EF4-FFF2-40B4-BE49-F238E27FC236}">
                <a16:creationId xmlns:a16="http://schemas.microsoft.com/office/drawing/2014/main" id="{67C8F59A-1BB2-34B4-73DD-6F3DD7757A21}"/>
              </a:ext>
            </a:extLst>
          </p:cNvPr>
          <p:cNvSpPr txBox="1">
            <a:spLocks/>
          </p:cNvSpPr>
          <p:nvPr/>
        </p:nvSpPr>
        <p:spPr>
          <a:xfrm>
            <a:off x="6272461" y="4611816"/>
            <a:ext cx="1914694" cy="1089194"/>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Experimental Results</a:t>
            </a:r>
          </a:p>
        </p:txBody>
      </p:sp>
      <p:sp>
        <p:nvSpPr>
          <p:cNvPr id="5" name="Text Placeholder 17">
            <a:extLst>
              <a:ext uri="{FF2B5EF4-FFF2-40B4-BE49-F238E27FC236}">
                <a16:creationId xmlns:a16="http://schemas.microsoft.com/office/drawing/2014/main" id="{8629F19C-36F1-372D-041F-DC5348BA0609}"/>
              </a:ext>
            </a:extLst>
          </p:cNvPr>
          <p:cNvSpPr txBox="1">
            <a:spLocks/>
          </p:cNvSpPr>
          <p:nvPr/>
        </p:nvSpPr>
        <p:spPr>
          <a:xfrm>
            <a:off x="10382788" y="4622603"/>
            <a:ext cx="1914694" cy="1089194"/>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dirty="0">
                <a:latin typeface="Times New Roman" panose="02020603050405020304" pitchFamily="18" charset="0"/>
                <a:cs typeface="Times New Roman" panose="02020603050405020304" pitchFamily="18" charset="0"/>
              </a:rPr>
              <a:t>Appendices and</a:t>
            </a:r>
          </a:p>
          <a:p>
            <a:pPr>
              <a:spcBef>
                <a:spcPts val="0"/>
              </a:spcBef>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77553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603728" y="399035"/>
            <a:ext cx="3756316" cy="998352"/>
          </a:xfrm>
        </p:spPr>
        <p:txBody>
          <a:bodyPr/>
          <a:lstStyle/>
          <a:p>
            <a:r>
              <a:rPr lang="en-US" altLang="zh-CN" sz="3200" dirty="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261289" y="1695915"/>
            <a:ext cx="4260180" cy="4444909"/>
          </a:xfrm>
        </p:spPr>
        <p:txBody>
          <a:bodyPr/>
          <a:lstStyle/>
          <a:p>
            <a:pPr marL="342900" indent="-342900" algn="just">
              <a:spcBef>
                <a:spcPts val="600"/>
              </a:spcBef>
              <a:buFont typeface="+mj-lt"/>
              <a:buAutoNum type="arabicPeriod"/>
            </a:pPr>
            <a:r>
              <a:rPr lang="en-US" sz="1400" dirty="0">
                <a:latin typeface="Times New Roman" panose="02020603050405020304" pitchFamily="18" charset="0"/>
                <a:cs typeface="Times New Roman" panose="02020603050405020304" pitchFamily="18" charset="0"/>
              </a:rPr>
              <a:t>This project analyzes large volumes of customer reviews from e-commerce platforms to classify sentiments into positive, negative, or neutral using Natural Language Processing (NLP) techniques.</a:t>
            </a:r>
          </a:p>
          <a:p>
            <a:pPr marL="342900" indent="-342900" algn="just">
              <a:spcBef>
                <a:spcPts val="600"/>
              </a:spcBef>
              <a:buFont typeface="+mj-lt"/>
              <a:buAutoNum type="arabicPeriod"/>
            </a:pPr>
            <a:r>
              <a:rPr lang="en-US" sz="1400" dirty="0">
                <a:latin typeface="Times New Roman" panose="02020603050405020304" pitchFamily="18" charset="0"/>
                <a:cs typeface="Times New Roman" panose="02020603050405020304" pitchFamily="18" charset="0"/>
              </a:rPr>
              <a:t>It involves preprocessing unstructured text data (cleaning, tokenization, </a:t>
            </a:r>
            <a:r>
              <a:rPr lang="en-US" sz="1400" dirty="0" err="1">
                <a:latin typeface="Times New Roman" panose="02020603050405020304" pitchFamily="18" charset="0"/>
                <a:cs typeface="Times New Roman" panose="02020603050405020304" pitchFamily="18" charset="0"/>
              </a:rPr>
              <a:t>stopword</a:t>
            </a:r>
            <a:r>
              <a:rPr lang="en-US" sz="1400" dirty="0">
                <a:latin typeface="Times New Roman" panose="02020603050405020304" pitchFamily="18" charset="0"/>
                <a:cs typeface="Times New Roman" panose="02020603050405020304" pitchFamily="18" charset="0"/>
              </a:rPr>
              <a:t> removal, and feature extraction like TF-IDF) to convert raw reviews into a structured format suitable for analysis.</a:t>
            </a:r>
          </a:p>
          <a:p>
            <a:pPr marL="342900" indent="-342900" algn="just">
              <a:spcBef>
                <a:spcPts val="600"/>
              </a:spcBef>
              <a:buFont typeface="+mj-lt"/>
              <a:buAutoNum type="arabicPeriod"/>
            </a:pPr>
            <a:r>
              <a:rPr lang="en-US" sz="1400" dirty="0">
                <a:latin typeface="Times New Roman" panose="02020603050405020304" pitchFamily="18" charset="0"/>
                <a:cs typeface="Times New Roman" panose="02020603050405020304" pitchFamily="18" charset="0"/>
              </a:rPr>
              <a:t>Machine Learning algorithms such as Logistic Regression, Naive Bayes, or Support Vector Machines are used to automatically detect sentiment, improving speed, accuracy, and scalability compared to manual analysis.</a:t>
            </a:r>
          </a:p>
          <a:p>
            <a:pPr marL="342900" indent="-342900" algn="just">
              <a:spcBef>
                <a:spcPts val="600"/>
              </a:spcBef>
              <a:buFont typeface="+mj-lt"/>
              <a:buAutoNum type="arabicPeriod"/>
            </a:pPr>
            <a:r>
              <a:rPr lang="en-US" sz="1400" dirty="0">
                <a:latin typeface="Times New Roman" panose="02020603050405020304" pitchFamily="18" charset="0"/>
                <a:cs typeface="Times New Roman" panose="02020603050405020304" pitchFamily="18" charset="0"/>
              </a:rPr>
              <a:t>The final output provides actionable insights into customer satisfaction, helping businesses identify product strengths, address negative feedback, and make informed, data-driven decisions.</a:t>
            </a:r>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a:stretch/>
        </p:blipFill>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643032" y="6369797"/>
            <a:ext cx="458592" cy="365125"/>
          </a:xfrm>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77554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3431121" y="2262956"/>
            <a:ext cx="0" cy="736246"/>
          </a:xfrm>
          <a:prstGeom prst="line">
            <a:avLst/>
          </a:prstGeom>
          <a:ln w="19050" cap="flat">
            <a:solidFill>
              <a:srgbClr val="404040"/>
            </a:solidFill>
            <a:prstDash val="sysDot"/>
            <a:headEnd type="triangle" w="lg" len="med"/>
            <a:tailEnd type="none" w="sm" len="sm"/>
          </a:ln>
        </p:spPr>
      </p:sp>
      <p:sp>
        <p:nvSpPr>
          <p:cNvPr id="3" name="AutoShape 3"/>
          <p:cNvSpPr/>
          <p:nvPr/>
        </p:nvSpPr>
        <p:spPr>
          <a:xfrm flipV="1">
            <a:off x="3431121" y="3595976"/>
            <a:ext cx="0" cy="736246"/>
          </a:xfrm>
          <a:prstGeom prst="line">
            <a:avLst/>
          </a:prstGeom>
          <a:ln w="19050" cap="flat">
            <a:solidFill>
              <a:srgbClr val="404040"/>
            </a:solidFill>
            <a:prstDash val="sysDot"/>
            <a:headEnd type="triangle" w="lg" len="med"/>
            <a:tailEnd type="none" w="sm" len="sm"/>
          </a:ln>
        </p:spPr>
      </p:sp>
      <p:sp>
        <p:nvSpPr>
          <p:cNvPr id="4" name="AutoShape 4"/>
          <p:cNvSpPr/>
          <p:nvPr/>
        </p:nvSpPr>
        <p:spPr>
          <a:xfrm flipH="1" flipV="1">
            <a:off x="6119861" y="4064647"/>
            <a:ext cx="0" cy="972323"/>
          </a:xfrm>
          <a:prstGeom prst="line">
            <a:avLst/>
          </a:prstGeom>
          <a:ln w="19050" cap="flat">
            <a:solidFill>
              <a:srgbClr val="404040"/>
            </a:solidFill>
            <a:prstDash val="sysDot"/>
            <a:headEnd type="none" w="sm" len="sm"/>
            <a:tailEnd type="arrow" w="med" len="sm"/>
          </a:ln>
        </p:spPr>
      </p:sp>
      <p:sp>
        <p:nvSpPr>
          <p:cNvPr id="5" name="AutoShape 5"/>
          <p:cNvSpPr/>
          <p:nvPr/>
        </p:nvSpPr>
        <p:spPr>
          <a:xfrm flipH="1" flipV="1">
            <a:off x="6119861" y="2701899"/>
            <a:ext cx="0" cy="972323"/>
          </a:xfrm>
          <a:prstGeom prst="line">
            <a:avLst/>
          </a:prstGeom>
          <a:ln w="19050" cap="flat">
            <a:solidFill>
              <a:srgbClr val="404040"/>
            </a:solidFill>
            <a:prstDash val="sysDot"/>
            <a:headEnd type="none" w="sm" len="sm"/>
            <a:tailEnd type="arrow" w="med" len="sm"/>
          </a:ln>
        </p:spPr>
      </p:sp>
      <p:grpSp>
        <p:nvGrpSpPr>
          <p:cNvPr id="6" name="Group 6"/>
          <p:cNvGrpSpPr/>
          <p:nvPr/>
        </p:nvGrpSpPr>
        <p:grpSpPr>
          <a:xfrm>
            <a:off x="2433754" y="3343504"/>
            <a:ext cx="2013048" cy="661437"/>
            <a:chOff x="0" y="0"/>
            <a:chExt cx="1284735" cy="422132"/>
          </a:xfrm>
        </p:grpSpPr>
        <p:sp>
          <p:nvSpPr>
            <p:cNvPr id="7" name="Freeform 7"/>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p:spPr>
        </p:sp>
        <p:sp>
          <p:nvSpPr>
            <p:cNvPr id="8" name="TextBox 8"/>
            <p:cNvSpPr txBox="1"/>
            <p:nvPr/>
          </p:nvSpPr>
          <p:spPr>
            <a:xfrm>
              <a:off x="0" y="-28575"/>
              <a:ext cx="1284735" cy="450707"/>
            </a:xfrm>
            <a:prstGeom prst="rect">
              <a:avLst/>
            </a:prstGeom>
          </p:spPr>
          <p:txBody>
            <a:bodyPr lIns="47625" tIns="47625" rIns="47625" bIns="47625" rtlCol="0" anchor="ctr"/>
            <a:lstStyle/>
            <a:p>
              <a:pPr algn="ctr">
                <a:lnSpc>
                  <a:spcPts val="1994"/>
                </a:lnSpc>
              </a:pPr>
              <a:endParaRPr sz="1688"/>
            </a:p>
          </p:txBody>
        </p:sp>
      </p:grpSp>
      <p:grpSp>
        <p:nvGrpSpPr>
          <p:cNvPr id="9" name="Group 9"/>
          <p:cNvGrpSpPr/>
          <p:nvPr/>
        </p:nvGrpSpPr>
        <p:grpSpPr>
          <a:xfrm>
            <a:off x="5122574" y="3359479"/>
            <a:ext cx="2052770" cy="725163"/>
            <a:chOff x="0" y="0"/>
            <a:chExt cx="1310086" cy="462802"/>
          </a:xfrm>
        </p:grpSpPr>
        <p:sp>
          <p:nvSpPr>
            <p:cNvPr id="10" name="Freeform 10"/>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cap="rnd">
              <a:noFill/>
              <a:prstDash val="solid"/>
              <a:round/>
            </a:ln>
          </p:spPr>
        </p:sp>
        <p:sp>
          <p:nvSpPr>
            <p:cNvPr id="11" name="TextBox 11"/>
            <p:cNvSpPr txBox="1"/>
            <p:nvPr/>
          </p:nvSpPr>
          <p:spPr>
            <a:xfrm>
              <a:off x="25351" y="31145"/>
              <a:ext cx="1284735" cy="431657"/>
            </a:xfrm>
            <a:prstGeom prst="rect">
              <a:avLst/>
            </a:prstGeom>
          </p:spPr>
          <p:txBody>
            <a:bodyPr lIns="47625" tIns="47625" rIns="47625" bIns="47625" rtlCol="0" anchor="ctr"/>
            <a:lstStyle/>
            <a:p>
              <a:pPr algn="ctr">
                <a:lnSpc>
                  <a:spcPts val="1204"/>
                </a:lnSpc>
                <a:spcBef>
                  <a:spcPct val="0"/>
                </a:spcBef>
              </a:pPr>
              <a:r>
                <a:rPr lang="en-US" sz="1125" b="1" spc="124" dirty="0">
                  <a:solidFill>
                    <a:srgbClr val="404040"/>
                  </a:solidFill>
                  <a:latin typeface="Times New Roman Condensed Bold"/>
                  <a:ea typeface="Times New Roman Condensed Bold"/>
                  <a:cs typeface="Times New Roman Condensed Bold"/>
                  <a:sym typeface="Times New Roman Condensed Bold"/>
                </a:rPr>
                <a:t>MODEL SELECTION AND MODEL TRAINING</a:t>
              </a:r>
            </a:p>
          </p:txBody>
        </p:sp>
      </p:grpSp>
      <p:sp>
        <p:nvSpPr>
          <p:cNvPr id="12" name="AutoShape 12"/>
          <p:cNvSpPr/>
          <p:nvPr/>
        </p:nvSpPr>
        <p:spPr>
          <a:xfrm>
            <a:off x="3431121" y="5055538"/>
            <a:ext cx="1654725" cy="0"/>
          </a:xfrm>
          <a:prstGeom prst="line">
            <a:avLst/>
          </a:prstGeom>
          <a:ln w="19050" cap="flat">
            <a:solidFill>
              <a:srgbClr val="404040"/>
            </a:solidFill>
            <a:prstDash val="sysDot"/>
            <a:headEnd type="none" w="sm" len="sm"/>
            <a:tailEnd type="arrow" w="med" len="sm"/>
          </a:ln>
        </p:spPr>
      </p:sp>
      <p:sp>
        <p:nvSpPr>
          <p:cNvPr id="13" name="AutoShape 13"/>
          <p:cNvSpPr/>
          <p:nvPr/>
        </p:nvSpPr>
        <p:spPr>
          <a:xfrm>
            <a:off x="6498233" y="2262955"/>
            <a:ext cx="1248098" cy="0"/>
          </a:xfrm>
          <a:prstGeom prst="line">
            <a:avLst/>
          </a:prstGeom>
          <a:ln w="19050" cap="flat">
            <a:solidFill>
              <a:srgbClr val="404040"/>
            </a:solidFill>
            <a:prstDash val="sysDot"/>
            <a:headEnd type="none" w="sm" len="sm"/>
            <a:tailEnd type="arrow" w="med" len="sm"/>
          </a:ln>
        </p:spPr>
      </p:sp>
      <p:grpSp>
        <p:nvGrpSpPr>
          <p:cNvPr id="14" name="Group 14"/>
          <p:cNvGrpSpPr/>
          <p:nvPr/>
        </p:nvGrpSpPr>
        <p:grpSpPr>
          <a:xfrm>
            <a:off x="2433527" y="1996342"/>
            <a:ext cx="2013048" cy="661437"/>
            <a:chOff x="0" y="0"/>
            <a:chExt cx="1284735" cy="422132"/>
          </a:xfrm>
        </p:grpSpPr>
        <p:sp>
          <p:nvSpPr>
            <p:cNvPr id="15" name="Freeform 15"/>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txBody>
            <a:bodyPr/>
            <a:lstStyle/>
            <a:p>
              <a:endParaRPr lang="en-IN"/>
            </a:p>
          </p:txBody>
        </p:sp>
        <p:sp>
          <p:nvSpPr>
            <p:cNvPr id="16" name="TextBox 16"/>
            <p:cNvSpPr txBox="1"/>
            <p:nvPr/>
          </p:nvSpPr>
          <p:spPr>
            <a:xfrm>
              <a:off x="0" y="-28575"/>
              <a:ext cx="1284735" cy="450707"/>
            </a:xfrm>
            <a:prstGeom prst="rect">
              <a:avLst/>
            </a:prstGeom>
          </p:spPr>
          <p:txBody>
            <a:bodyPr lIns="47625" tIns="47625" rIns="47625" bIns="47625" rtlCol="0" anchor="ctr"/>
            <a:lstStyle/>
            <a:p>
              <a:pPr algn="ctr">
                <a:lnSpc>
                  <a:spcPts val="1994"/>
                </a:lnSpc>
              </a:pPr>
              <a:endParaRPr sz="1688"/>
            </a:p>
          </p:txBody>
        </p:sp>
      </p:grpSp>
      <p:grpSp>
        <p:nvGrpSpPr>
          <p:cNvPr id="17" name="Group 17"/>
          <p:cNvGrpSpPr/>
          <p:nvPr/>
        </p:nvGrpSpPr>
        <p:grpSpPr>
          <a:xfrm>
            <a:off x="7746332" y="1996342"/>
            <a:ext cx="2013048" cy="661437"/>
            <a:chOff x="0" y="0"/>
            <a:chExt cx="1284735" cy="422132"/>
          </a:xfrm>
        </p:grpSpPr>
        <p:sp>
          <p:nvSpPr>
            <p:cNvPr id="18" name="Freeform 18"/>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19" name="TextBox 19"/>
            <p:cNvSpPr txBox="1"/>
            <p:nvPr/>
          </p:nvSpPr>
          <p:spPr>
            <a:xfrm>
              <a:off x="0" y="-28575"/>
              <a:ext cx="1284735" cy="450707"/>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20" name="Group 20"/>
          <p:cNvGrpSpPr/>
          <p:nvPr/>
        </p:nvGrpSpPr>
        <p:grpSpPr>
          <a:xfrm>
            <a:off x="5122347" y="2012317"/>
            <a:ext cx="2013048" cy="661437"/>
            <a:chOff x="0" y="0"/>
            <a:chExt cx="1284735" cy="422132"/>
          </a:xfrm>
        </p:grpSpPr>
        <p:sp>
          <p:nvSpPr>
            <p:cNvPr id="21" name="Freeform 21"/>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22" name="TextBox 22"/>
            <p:cNvSpPr txBox="1"/>
            <p:nvPr/>
          </p:nvSpPr>
          <p:spPr>
            <a:xfrm>
              <a:off x="0" y="-9525"/>
              <a:ext cx="1284735" cy="431657"/>
            </a:xfrm>
            <a:prstGeom prst="rect">
              <a:avLst/>
            </a:prstGeom>
          </p:spPr>
          <p:txBody>
            <a:bodyPr lIns="47625" tIns="47625" rIns="47625" bIns="47625" rtlCol="0" anchor="ctr"/>
            <a:lstStyle/>
            <a:p>
              <a:pPr algn="ctr">
                <a:lnSpc>
                  <a:spcPts val="1204"/>
                </a:lnSpc>
                <a:spcBef>
                  <a:spcPct val="0"/>
                </a:spcBef>
              </a:pPr>
              <a:r>
                <a:rPr lang="en-US" sz="1125" b="1" spc="124" dirty="0">
                  <a:solidFill>
                    <a:srgbClr val="404040"/>
                  </a:solidFill>
                  <a:latin typeface="Times New Roman Condensed Bold"/>
                  <a:ea typeface="Times New Roman Condensed Bold"/>
                  <a:cs typeface="Times New Roman Condensed Bold"/>
                  <a:sym typeface="Times New Roman Condensed Bold"/>
                </a:rPr>
                <a:t>SPLIT TRAIN AND TEST DATA</a:t>
              </a:r>
            </a:p>
          </p:txBody>
        </p:sp>
      </p:grpSp>
      <p:grpSp>
        <p:nvGrpSpPr>
          <p:cNvPr id="23" name="Group 23"/>
          <p:cNvGrpSpPr/>
          <p:nvPr/>
        </p:nvGrpSpPr>
        <p:grpSpPr>
          <a:xfrm>
            <a:off x="2433754" y="4690277"/>
            <a:ext cx="2013048" cy="661437"/>
            <a:chOff x="0" y="0"/>
            <a:chExt cx="1284735" cy="422132"/>
          </a:xfrm>
        </p:grpSpPr>
        <p:sp>
          <p:nvSpPr>
            <p:cNvPr id="24" name="Freeform 24"/>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cap="rnd">
              <a:noFill/>
              <a:prstDash val="solid"/>
              <a:round/>
            </a:ln>
          </p:spPr>
        </p:sp>
        <p:sp>
          <p:nvSpPr>
            <p:cNvPr id="25" name="TextBox 25"/>
            <p:cNvSpPr txBox="1"/>
            <p:nvPr/>
          </p:nvSpPr>
          <p:spPr>
            <a:xfrm>
              <a:off x="0" y="-28575"/>
              <a:ext cx="1284735" cy="450707"/>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26" name="Group 26"/>
          <p:cNvGrpSpPr/>
          <p:nvPr/>
        </p:nvGrpSpPr>
        <p:grpSpPr>
          <a:xfrm>
            <a:off x="5122574" y="4706252"/>
            <a:ext cx="2013048" cy="661437"/>
            <a:chOff x="0" y="0"/>
            <a:chExt cx="1284735" cy="422132"/>
          </a:xfrm>
        </p:grpSpPr>
        <p:sp>
          <p:nvSpPr>
            <p:cNvPr id="27" name="Freeform 27"/>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28" name="TextBox 28"/>
            <p:cNvSpPr txBox="1"/>
            <p:nvPr/>
          </p:nvSpPr>
          <p:spPr>
            <a:xfrm>
              <a:off x="0" y="-28575"/>
              <a:ext cx="1284735" cy="450707"/>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29" name="Group 29"/>
          <p:cNvGrpSpPr/>
          <p:nvPr/>
        </p:nvGrpSpPr>
        <p:grpSpPr>
          <a:xfrm>
            <a:off x="3217191" y="1638739"/>
            <a:ext cx="445718" cy="44571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31" name="TextBox 31"/>
            <p:cNvSpPr txBox="1"/>
            <p:nvPr/>
          </p:nvSpPr>
          <p:spPr>
            <a:xfrm>
              <a:off x="76200" y="47625"/>
              <a:ext cx="660400" cy="688975"/>
            </a:xfrm>
            <a:prstGeom prst="rect">
              <a:avLst/>
            </a:prstGeom>
          </p:spPr>
          <p:txBody>
            <a:bodyPr lIns="47625" tIns="47625" rIns="47625" bIns="47625" rtlCol="0" anchor="ctr"/>
            <a:lstStyle/>
            <a:p>
              <a:pPr algn="ctr">
                <a:lnSpc>
                  <a:spcPts val="1994"/>
                </a:lnSpc>
              </a:pPr>
              <a:endParaRPr sz="1688"/>
            </a:p>
          </p:txBody>
        </p:sp>
      </p:grpSp>
      <p:grpSp>
        <p:nvGrpSpPr>
          <p:cNvPr id="32" name="Group 32"/>
          <p:cNvGrpSpPr/>
          <p:nvPr/>
        </p:nvGrpSpPr>
        <p:grpSpPr>
          <a:xfrm>
            <a:off x="3217191" y="2999201"/>
            <a:ext cx="445718" cy="44571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34" name="TextBox 34"/>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35" name="Group 35"/>
          <p:cNvGrpSpPr/>
          <p:nvPr/>
        </p:nvGrpSpPr>
        <p:grpSpPr>
          <a:xfrm>
            <a:off x="3217191" y="4342384"/>
            <a:ext cx="445718" cy="44571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37" name="TextBox 37"/>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38" name="Group 38"/>
          <p:cNvGrpSpPr/>
          <p:nvPr/>
        </p:nvGrpSpPr>
        <p:grpSpPr>
          <a:xfrm>
            <a:off x="8529996" y="1638739"/>
            <a:ext cx="445718" cy="445718"/>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0" name="TextBox 40"/>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41" name="Group 41"/>
          <p:cNvGrpSpPr/>
          <p:nvPr/>
        </p:nvGrpSpPr>
        <p:grpSpPr>
          <a:xfrm>
            <a:off x="5906011" y="1650641"/>
            <a:ext cx="445718" cy="445718"/>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3" name="TextBox 43"/>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44" name="Group 44"/>
          <p:cNvGrpSpPr/>
          <p:nvPr/>
        </p:nvGrpSpPr>
        <p:grpSpPr>
          <a:xfrm>
            <a:off x="5906011" y="3011104"/>
            <a:ext cx="445718" cy="445718"/>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6" name="TextBox 46"/>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47" name="Group 47"/>
          <p:cNvGrpSpPr/>
          <p:nvPr/>
        </p:nvGrpSpPr>
        <p:grpSpPr>
          <a:xfrm>
            <a:off x="5906011" y="4354286"/>
            <a:ext cx="445718" cy="445718"/>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9" name="TextBox 49"/>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sp>
        <p:nvSpPr>
          <p:cNvPr id="50" name="TextBox 50"/>
          <p:cNvSpPr txBox="1"/>
          <p:nvPr/>
        </p:nvSpPr>
        <p:spPr>
          <a:xfrm>
            <a:off x="4446576" y="451955"/>
            <a:ext cx="3442366" cy="512961"/>
          </a:xfrm>
          <a:prstGeom prst="rect">
            <a:avLst/>
          </a:prstGeom>
        </p:spPr>
        <p:txBody>
          <a:bodyPr wrap="square" lIns="0" tIns="0" rIns="0" bIns="0" rtlCol="0" anchor="t">
            <a:spAutoFit/>
          </a:bodyPr>
          <a:lstStyle/>
          <a:p>
            <a:pPr algn="just">
              <a:lnSpc>
                <a:spcPts val="4047"/>
              </a:lnSpc>
            </a:pPr>
            <a:r>
              <a:rPr lang="en-US" sz="3600" b="1" dirty="0">
                <a:latin typeface="Times New Roman" panose="02020603050405020304" pitchFamily="18" charset="0"/>
                <a:ea typeface="Times New Roman Condensed"/>
                <a:cs typeface="Times New Roman" panose="02020603050405020304" pitchFamily="18" charset="0"/>
                <a:sym typeface="Times New Roman Condensed"/>
              </a:rPr>
              <a:t>WORKFLOW</a:t>
            </a:r>
            <a:endParaRPr lang="en-US" sz="3089" b="1" dirty="0">
              <a:latin typeface="Times New Roman" panose="02020603050405020304" pitchFamily="18" charset="0"/>
              <a:ea typeface="Times New Roman Condensed"/>
              <a:cs typeface="Times New Roman" panose="02020603050405020304" pitchFamily="18" charset="0"/>
              <a:sym typeface="Times New Roman Condensed"/>
            </a:endParaRPr>
          </a:p>
        </p:txBody>
      </p:sp>
      <p:sp>
        <p:nvSpPr>
          <p:cNvPr id="51" name="TextBox 51"/>
          <p:cNvSpPr txBox="1"/>
          <p:nvPr/>
        </p:nvSpPr>
        <p:spPr>
          <a:xfrm>
            <a:off x="2715594" y="3517493"/>
            <a:ext cx="1449335" cy="461665"/>
          </a:xfrm>
          <a:prstGeom prst="rect">
            <a:avLst/>
          </a:prstGeom>
        </p:spPr>
        <p:txBody>
          <a:bodyPr lIns="0" tIns="0" rIns="0" bIns="0" rtlCol="0" anchor="t">
            <a:spAutoFit/>
          </a:bodyPr>
          <a:lstStyle/>
          <a:p>
            <a:pPr algn="ctr">
              <a:lnSpc>
                <a:spcPts val="1204"/>
              </a:lnSpc>
              <a:spcBef>
                <a:spcPct val="0"/>
              </a:spcBef>
            </a:pPr>
            <a:r>
              <a:rPr lang="en-US" sz="1125" b="1" spc="124">
                <a:solidFill>
                  <a:srgbClr val="404040"/>
                </a:solidFill>
                <a:latin typeface="Times New Roman Condensed Bold"/>
                <a:ea typeface="Times New Roman Condensed Bold"/>
                <a:cs typeface="Times New Roman Condensed Bold"/>
                <a:sym typeface="Times New Roman Condensed Bold"/>
              </a:rPr>
              <a:t>DATA PREPROCESSING</a:t>
            </a:r>
          </a:p>
        </p:txBody>
      </p:sp>
      <p:sp>
        <p:nvSpPr>
          <p:cNvPr id="52" name="TextBox 52"/>
          <p:cNvSpPr txBox="1"/>
          <p:nvPr/>
        </p:nvSpPr>
        <p:spPr>
          <a:xfrm>
            <a:off x="2817722" y="2170331"/>
            <a:ext cx="1244692" cy="307777"/>
          </a:xfrm>
          <a:prstGeom prst="rect">
            <a:avLst/>
          </a:prstGeom>
        </p:spPr>
        <p:txBody>
          <a:bodyPr lIns="0" tIns="0" rIns="0" bIns="0" rtlCol="0" anchor="t">
            <a:spAutoFit/>
          </a:bodyPr>
          <a:lstStyle/>
          <a:p>
            <a:pPr algn="ctr">
              <a:lnSpc>
                <a:spcPts val="1204"/>
              </a:lnSpc>
            </a:pPr>
            <a:r>
              <a:rPr lang="en-US" sz="1125" b="1" spc="124" dirty="0">
                <a:solidFill>
                  <a:srgbClr val="404040"/>
                </a:solidFill>
                <a:latin typeface="Times New Roman Condensed Bold"/>
                <a:ea typeface="Times New Roman Condensed Bold"/>
                <a:cs typeface="Times New Roman Condensed Bold"/>
                <a:sym typeface="Times New Roman Condensed Bold"/>
              </a:rPr>
              <a:t>DATA COLLECTION</a:t>
            </a:r>
          </a:p>
        </p:txBody>
      </p:sp>
      <p:sp>
        <p:nvSpPr>
          <p:cNvPr id="53" name="TextBox 53"/>
          <p:cNvSpPr txBox="1"/>
          <p:nvPr/>
        </p:nvSpPr>
        <p:spPr>
          <a:xfrm>
            <a:off x="3296056" y="1702778"/>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1</a:t>
            </a:r>
          </a:p>
        </p:txBody>
      </p:sp>
      <p:sp>
        <p:nvSpPr>
          <p:cNvPr id="54" name="TextBox 54"/>
          <p:cNvSpPr txBox="1"/>
          <p:nvPr/>
        </p:nvSpPr>
        <p:spPr>
          <a:xfrm>
            <a:off x="5985085" y="1702778"/>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6</a:t>
            </a:r>
          </a:p>
        </p:txBody>
      </p:sp>
      <p:sp>
        <p:nvSpPr>
          <p:cNvPr id="55" name="TextBox 55"/>
          <p:cNvSpPr txBox="1"/>
          <p:nvPr/>
        </p:nvSpPr>
        <p:spPr>
          <a:xfrm>
            <a:off x="3296056" y="3054600"/>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2</a:t>
            </a:r>
          </a:p>
        </p:txBody>
      </p:sp>
      <p:sp>
        <p:nvSpPr>
          <p:cNvPr id="56" name="TextBox 56"/>
          <p:cNvSpPr txBox="1"/>
          <p:nvPr/>
        </p:nvSpPr>
        <p:spPr>
          <a:xfrm>
            <a:off x="5985085" y="3054600"/>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5</a:t>
            </a:r>
          </a:p>
        </p:txBody>
      </p:sp>
      <p:sp>
        <p:nvSpPr>
          <p:cNvPr id="57" name="TextBox 57"/>
          <p:cNvSpPr txBox="1"/>
          <p:nvPr/>
        </p:nvSpPr>
        <p:spPr>
          <a:xfrm>
            <a:off x="8189410" y="2186306"/>
            <a:ext cx="1126893" cy="307777"/>
          </a:xfrm>
          <a:prstGeom prst="rect">
            <a:avLst/>
          </a:prstGeom>
        </p:spPr>
        <p:txBody>
          <a:bodyPr lIns="0" tIns="0" rIns="0" bIns="0" rtlCol="0" anchor="t">
            <a:spAutoFit/>
          </a:bodyPr>
          <a:lstStyle/>
          <a:p>
            <a:pPr algn="ctr">
              <a:lnSpc>
                <a:spcPts val="1204"/>
              </a:lnSpc>
              <a:spcBef>
                <a:spcPct val="0"/>
              </a:spcBef>
            </a:pPr>
            <a:r>
              <a:rPr lang="en-US" sz="1125" b="1" spc="124" dirty="0">
                <a:solidFill>
                  <a:srgbClr val="404040"/>
                </a:solidFill>
                <a:latin typeface="Times New Roman Condensed Bold"/>
                <a:ea typeface="Times New Roman Condensed Bold"/>
                <a:cs typeface="Times New Roman Condensed Bold"/>
                <a:sym typeface="Times New Roman Condensed Bold"/>
              </a:rPr>
              <a:t>MONITOR AND UPDATE</a:t>
            </a:r>
          </a:p>
        </p:txBody>
      </p:sp>
      <p:sp>
        <p:nvSpPr>
          <p:cNvPr id="58" name="TextBox 58"/>
          <p:cNvSpPr txBox="1"/>
          <p:nvPr/>
        </p:nvSpPr>
        <p:spPr>
          <a:xfrm>
            <a:off x="2715594" y="4884771"/>
            <a:ext cx="1449335" cy="307777"/>
          </a:xfrm>
          <a:prstGeom prst="rect">
            <a:avLst/>
          </a:prstGeom>
        </p:spPr>
        <p:txBody>
          <a:bodyPr lIns="0" tIns="0" rIns="0" bIns="0" rtlCol="0" anchor="t">
            <a:spAutoFit/>
          </a:bodyPr>
          <a:lstStyle/>
          <a:p>
            <a:pPr algn="ctr">
              <a:lnSpc>
                <a:spcPts val="1204"/>
              </a:lnSpc>
              <a:spcBef>
                <a:spcPct val="0"/>
              </a:spcBef>
            </a:pPr>
            <a:r>
              <a:rPr lang="en-US" sz="1125" b="1" spc="124">
                <a:solidFill>
                  <a:srgbClr val="404040"/>
                </a:solidFill>
                <a:latin typeface="Times New Roman Condensed Bold"/>
                <a:ea typeface="Times New Roman Condensed Bold"/>
                <a:cs typeface="Times New Roman Condensed Bold"/>
                <a:sym typeface="Times New Roman Condensed Bold"/>
              </a:rPr>
              <a:t>EXPLORATORY DATA ANALYSIS</a:t>
            </a:r>
          </a:p>
        </p:txBody>
      </p:sp>
      <p:sp>
        <p:nvSpPr>
          <p:cNvPr id="59" name="TextBox 59"/>
          <p:cNvSpPr txBox="1"/>
          <p:nvPr/>
        </p:nvSpPr>
        <p:spPr>
          <a:xfrm>
            <a:off x="5423501" y="4880241"/>
            <a:ext cx="1410964" cy="307777"/>
          </a:xfrm>
          <a:prstGeom prst="rect">
            <a:avLst/>
          </a:prstGeom>
        </p:spPr>
        <p:txBody>
          <a:bodyPr lIns="0" tIns="0" rIns="0" bIns="0" rtlCol="0" anchor="t">
            <a:spAutoFit/>
          </a:bodyPr>
          <a:lstStyle/>
          <a:p>
            <a:pPr algn="ctr">
              <a:lnSpc>
                <a:spcPts val="1204"/>
              </a:lnSpc>
              <a:spcBef>
                <a:spcPct val="0"/>
              </a:spcBef>
            </a:pPr>
            <a:r>
              <a:rPr lang="en-US" sz="1125" b="1" spc="124">
                <a:solidFill>
                  <a:srgbClr val="404040"/>
                </a:solidFill>
                <a:latin typeface="Times New Roman Condensed Bold"/>
                <a:ea typeface="Times New Roman Condensed Bold"/>
                <a:cs typeface="Times New Roman Condensed Bold"/>
                <a:sym typeface="Times New Roman Condensed Bold"/>
              </a:rPr>
              <a:t>MODEL EVALUATION</a:t>
            </a:r>
          </a:p>
        </p:txBody>
      </p:sp>
      <p:sp>
        <p:nvSpPr>
          <p:cNvPr id="60" name="TextBox 60"/>
          <p:cNvSpPr txBox="1"/>
          <p:nvPr/>
        </p:nvSpPr>
        <p:spPr>
          <a:xfrm>
            <a:off x="3296056" y="4399425"/>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3</a:t>
            </a:r>
          </a:p>
        </p:txBody>
      </p:sp>
      <p:sp>
        <p:nvSpPr>
          <p:cNvPr id="61" name="TextBox 61"/>
          <p:cNvSpPr txBox="1"/>
          <p:nvPr/>
        </p:nvSpPr>
        <p:spPr>
          <a:xfrm>
            <a:off x="5985085" y="4399425"/>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4</a:t>
            </a:r>
          </a:p>
        </p:txBody>
      </p:sp>
      <p:sp>
        <p:nvSpPr>
          <p:cNvPr id="62" name="TextBox 62"/>
          <p:cNvSpPr txBox="1"/>
          <p:nvPr/>
        </p:nvSpPr>
        <p:spPr>
          <a:xfrm>
            <a:off x="8609070" y="1702778"/>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7</a:t>
            </a:r>
          </a:p>
        </p:txBody>
      </p:sp>
      <p:sp>
        <p:nvSpPr>
          <p:cNvPr id="66" name="Slide Number Placeholder 4">
            <a:extLst>
              <a:ext uri="{FF2B5EF4-FFF2-40B4-BE49-F238E27FC236}">
                <a16:creationId xmlns:a16="http://schemas.microsoft.com/office/drawing/2014/main" id="{2442E38C-6CCB-3920-4DE7-46BC49ED930B}"/>
              </a:ext>
            </a:extLst>
          </p:cNvPr>
          <p:cNvSpPr txBox="1">
            <a:spLocks/>
          </p:cNvSpPr>
          <p:nvPr/>
        </p:nvSpPr>
        <p:spPr>
          <a:xfrm>
            <a:off x="11733408" y="6420064"/>
            <a:ext cx="458592"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z="1200" smtClean="0"/>
              <a:pPr/>
              <a:t>4</a:t>
            </a:fld>
            <a:endParaRPr lang="en-US" altLang="zh-CN"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F12C9D-3EB0-63A2-E6C8-517827C88877}"/>
              </a:ext>
            </a:extLst>
          </p:cNvPr>
          <p:cNvSpPr>
            <a:spLocks noGrp="1"/>
          </p:cNvSpPr>
          <p:nvPr>
            <p:ph type="body" sz="quarter" idx="32"/>
          </p:nvPr>
        </p:nvSpPr>
        <p:spPr>
          <a:xfrm>
            <a:off x="838200" y="2929822"/>
            <a:ext cx="1865376" cy="2464293"/>
          </a:xfr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pPr>
              <a:spcBef>
                <a:spcPts val="1000"/>
              </a:spcBef>
              <a:buFontTx/>
            </a:pPr>
            <a:r>
              <a:rPr lang="en-US" sz="1400" dirty="0">
                <a:solidFill>
                  <a:schemeClr val="tx1"/>
                </a:solidFill>
                <a:latin typeface="Times New Roman" panose="02020603050405020304" pitchFamily="18" charset="0"/>
                <a:cs typeface="Times New Roman" panose="02020603050405020304" pitchFamily="18" charset="0"/>
              </a:rPr>
              <a:t>We handle missing data through imputation techniques like mean or median for numerical features, and mode or  for categorical features, ensuring minimal distortion of patterns in the dataset. </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F64BBF5-6C3D-A771-4593-AC3F40FC9D6D}"/>
              </a:ext>
            </a:extLst>
          </p:cNvPr>
          <p:cNvSpPr>
            <a:spLocks noGrp="1"/>
          </p:cNvSpPr>
          <p:nvPr>
            <p:ph type="body" sz="quarter" idx="50"/>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a:spcBef>
                <a:spcPts val="1000"/>
              </a:spcBef>
              <a:buFontTx/>
            </a:pPr>
            <a:endParaRPr lang="en-US" sz="100" dirty="0">
              <a:solidFill>
                <a:schemeClr val="tx1"/>
              </a:solidFill>
              <a:latin typeface="Times New Roman" panose="02020603050405020304" pitchFamily="18" charset="0"/>
              <a:cs typeface="Times New Roman" panose="02020603050405020304" pitchFamily="18" charset="0"/>
            </a:endParaRPr>
          </a:p>
          <a:p>
            <a:pPr>
              <a:spcBef>
                <a:spcPts val="1000"/>
              </a:spcBef>
              <a:buFontTx/>
            </a:pPr>
            <a:r>
              <a:rPr lang="en-US" sz="1400" dirty="0">
                <a:solidFill>
                  <a:schemeClr val="tx1"/>
                </a:solidFill>
                <a:latin typeface="Times New Roman" panose="02020603050405020304" pitchFamily="18" charset="0"/>
                <a:cs typeface="Times New Roman" panose="02020603050405020304" pitchFamily="18" charset="0"/>
              </a:rPr>
              <a:t>Identified and removed duplicate rows to avoid biased predictions.</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800A5D0-6437-C1E9-E326-C682FA33ED0A}"/>
              </a:ext>
            </a:extLst>
          </p:cNvPr>
          <p:cNvSpPr>
            <a:spLocks noGrp="1"/>
          </p:cNvSpPr>
          <p:nvPr>
            <p:ph type="body" sz="quarter" idx="51"/>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a:spcBef>
                <a:spcPts val="1000"/>
              </a:spcBef>
              <a:buFontTx/>
            </a:pPr>
            <a:endParaRPr lang="en-US" sz="100" dirty="0">
              <a:solidFill>
                <a:schemeClr val="tx1"/>
              </a:solidFill>
              <a:latin typeface="Times New Roman" panose="02020603050405020304" pitchFamily="18" charset="0"/>
              <a:cs typeface="Times New Roman" panose="02020603050405020304" pitchFamily="18" charset="0"/>
            </a:endParaRPr>
          </a:p>
          <a:p>
            <a:pPr>
              <a:spcBef>
                <a:spcPts val="1000"/>
              </a:spcBef>
              <a:buFontTx/>
            </a:pPr>
            <a:r>
              <a:rPr lang="en-US" sz="1400" dirty="0">
                <a:solidFill>
                  <a:schemeClr val="tx1"/>
                </a:solidFill>
                <a:latin typeface="Times New Roman" panose="02020603050405020304" pitchFamily="18" charset="0"/>
                <a:cs typeface="Times New Roman" panose="02020603050405020304" pitchFamily="18" charset="0"/>
              </a:rPr>
              <a:t>Some numerical-looking columns were actually categorical, so they were converted into the appropriate data types.</a:t>
            </a:r>
          </a:p>
        </p:txBody>
      </p:sp>
      <p:sp>
        <p:nvSpPr>
          <p:cNvPr id="5" name="Text Placeholder 4">
            <a:extLst>
              <a:ext uri="{FF2B5EF4-FFF2-40B4-BE49-F238E27FC236}">
                <a16:creationId xmlns:a16="http://schemas.microsoft.com/office/drawing/2014/main" id="{58368455-5EF1-2DFF-8FBD-7D3C7E95147C}"/>
              </a:ext>
            </a:extLst>
          </p:cNvPr>
          <p:cNvSpPr>
            <a:spLocks noGrp="1"/>
          </p:cNvSpPr>
          <p:nvPr>
            <p:ph type="body" sz="quarter" idx="52"/>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a:spcBef>
                <a:spcPts val="1000"/>
              </a:spcBef>
              <a:buFontTx/>
            </a:pPr>
            <a:r>
              <a:rPr lang="en-US" sz="1400" dirty="0">
                <a:latin typeface="Times New Roman" panose="02020603050405020304" pitchFamily="18" charset="0"/>
                <a:cs typeface="Times New Roman" panose="02020603050405020304" pitchFamily="18" charset="0"/>
              </a:rPr>
              <a:t>Text cleaning in Natural Language Processing is the process of converting raw text into a clean, structured format by removing noise and standardizing it, making it suitable for analysis and improving model performance.</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339005F2-9738-803A-930E-FBC50B4D1737}"/>
              </a:ext>
            </a:extLst>
          </p:cNvPr>
          <p:cNvSpPr>
            <a:spLocks noGrp="1"/>
          </p:cNvSpPr>
          <p:nvPr>
            <p:ph type="body" sz="quarter" idx="53"/>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a:spcBef>
                <a:spcPts val="1000"/>
              </a:spcBef>
              <a:buFontTx/>
            </a:pPr>
            <a:endParaRPr lang="en-US" sz="100" dirty="0">
              <a:solidFill>
                <a:schemeClr val="tx1"/>
              </a:solidFill>
              <a:latin typeface="Times New Roman" panose="02020603050405020304" pitchFamily="18" charset="0"/>
              <a:cs typeface="Times New Roman" panose="02020603050405020304" pitchFamily="18" charset="0"/>
            </a:endParaRPr>
          </a:p>
          <a:p>
            <a:pPr>
              <a:spcBef>
                <a:spcPts val="1000"/>
              </a:spcBef>
              <a:buFontTx/>
            </a:pPr>
            <a:r>
              <a:rPr lang="en-US" sz="1400" dirty="0">
                <a:solidFill>
                  <a:schemeClr val="tx1"/>
                </a:solidFill>
                <a:latin typeface="Times New Roman" panose="02020603050405020304" pitchFamily="18" charset="0"/>
                <a:cs typeface="Times New Roman" panose="02020603050405020304" pitchFamily="18" charset="0"/>
              </a:rPr>
              <a:t>Applied Standard Scaler or min-max scaling to ensure features are on a similar scale, improving model performance.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B277AF54-6110-8B98-7F69-7EF40D664FD1}"/>
              </a:ext>
            </a:extLst>
          </p:cNvPr>
          <p:cNvSpPr>
            <a:spLocks noGrp="1"/>
          </p:cNvSpPr>
          <p:nvPr>
            <p:ph type="body" sz="quarter" idx="27"/>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u="sng" dirty="0">
                <a:solidFill>
                  <a:schemeClr val="tx1"/>
                </a:solidFill>
                <a:latin typeface="Times New Roman" panose="02020603050405020304" pitchFamily="18" charset="0"/>
                <a:cs typeface="Times New Roman" panose="02020603050405020304" pitchFamily="18" charset="0"/>
              </a:rPr>
              <a:t>Handling Missing Values</a:t>
            </a:r>
          </a:p>
        </p:txBody>
      </p:sp>
      <p:graphicFrame>
        <p:nvGraphicFramePr>
          <p:cNvPr id="13" name="Diagram 12">
            <a:extLst>
              <a:ext uri="{FF2B5EF4-FFF2-40B4-BE49-F238E27FC236}">
                <a16:creationId xmlns:a16="http://schemas.microsoft.com/office/drawing/2014/main" id="{C5E0D3D1-F41B-7AEB-3B77-774EEAEA59EC}"/>
              </a:ext>
            </a:extLst>
          </p:cNvPr>
          <p:cNvGraphicFramePr/>
          <p:nvPr>
            <p:extLst>
              <p:ext uri="{D42A27DB-BD31-4B8C-83A1-F6EECF244321}">
                <p14:modId xmlns:p14="http://schemas.microsoft.com/office/powerpoint/2010/main" val="3960224704"/>
              </p:ext>
            </p:extLst>
          </p:nvPr>
        </p:nvGraphicFramePr>
        <p:xfrm>
          <a:off x="838200" y="365126"/>
          <a:ext cx="10515600" cy="1091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 Placeholder 8">
            <a:extLst>
              <a:ext uri="{FF2B5EF4-FFF2-40B4-BE49-F238E27FC236}">
                <a16:creationId xmlns:a16="http://schemas.microsoft.com/office/drawing/2014/main" id="{B262C906-AA0E-D944-1761-F4885E86E01E}"/>
              </a:ext>
            </a:extLst>
          </p:cNvPr>
          <p:cNvSpPr>
            <a:spLocks noGrp="1"/>
          </p:cNvSpPr>
          <p:nvPr>
            <p:ph type="body" sz="quarter" idx="46"/>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u="sng" dirty="0">
                <a:solidFill>
                  <a:schemeClr val="tx1"/>
                </a:solidFill>
                <a:latin typeface="Times New Roman" panose="02020603050405020304" pitchFamily="18" charset="0"/>
                <a:cs typeface="Times New Roman" panose="02020603050405020304" pitchFamily="18" charset="0"/>
              </a:rPr>
              <a:t>Removing Duplicates</a:t>
            </a:r>
          </a:p>
        </p:txBody>
      </p:sp>
      <p:sp>
        <p:nvSpPr>
          <p:cNvPr id="10" name="Text Placeholder 9">
            <a:extLst>
              <a:ext uri="{FF2B5EF4-FFF2-40B4-BE49-F238E27FC236}">
                <a16:creationId xmlns:a16="http://schemas.microsoft.com/office/drawing/2014/main" id="{1BDEAB66-D4DA-1A2C-031A-83314036ED7A}"/>
              </a:ext>
            </a:extLst>
          </p:cNvPr>
          <p:cNvSpPr>
            <a:spLocks noGrp="1"/>
          </p:cNvSpPr>
          <p:nvPr>
            <p:ph type="body" sz="quarter" idx="47"/>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u="sng" dirty="0">
                <a:solidFill>
                  <a:schemeClr val="tx1"/>
                </a:solidFill>
                <a:latin typeface="Times New Roman" panose="02020603050405020304" pitchFamily="18" charset="0"/>
                <a:cs typeface="Times New Roman" panose="02020603050405020304" pitchFamily="18" charset="0"/>
              </a:rPr>
              <a:t>Data Type Conversion</a:t>
            </a:r>
          </a:p>
        </p:txBody>
      </p:sp>
      <p:sp>
        <p:nvSpPr>
          <p:cNvPr id="11" name="Text Placeholder 10">
            <a:extLst>
              <a:ext uri="{FF2B5EF4-FFF2-40B4-BE49-F238E27FC236}">
                <a16:creationId xmlns:a16="http://schemas.microsoft.com/office/drawing/2014/main" id="{993DEB4C-BD8B-C553-6B83-5CC738BCDE99}"/>
              </a:ext>
            </a:extLst>
          </p:cNvPr>
          <p:cNvSpPr>
            <a:spLocks noGrp="1"/>
          </p:cNvSpPr>
          <p:nvPr>
            <p:ph type="body" sz="quarter" idx="48"/>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u="sng" dirty="0">
                <a:solidFill>
                  <a:schemeClr val="tx1"/>
                </a:solidFill>
                <a:latin typeface="Times New Roman" panose="02020603050405020304" pitchFamily="18" charset="0"/>
                <a:cs typeface="Times New Roman" panose="02020603050405020304" pitchFamily="18" charset="0"/>
              </a:rPr>
              <a:t>Text Cleaning</a:t>
            </a:r>
          </a:p>
        </p:txBody>
      </p:sp>
      <p:sp>
        <p:nvSpPr>
          <p:cNvPr id="12" name="Text Placeholder 11">
            <a:extLst>
              <a:ext uri="{FF2B5EF4-FFF2-40B4-BE49-F238E27FC236}">
                <a16:creationId xmlns:a16="http://schemas.microsoft.com/office/drawing/2014/main" id="{06ECE62A-C2D1-8BAE-083D-5D6E75F237AD}"/>
              </a:ext>
            </a:extLst>
          </p:cNvPr>
          <p:cNvSpPr>
            <a:spLocks noGrp="1"/>
          </p:cNvSpPr>
          <p:nvPr>
            <p:ph type="body" sz="quarter" idx="49"/>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u="sng" dirty="0">
                <a:solidFill>
                  <a:schemeClr val="tx1"/>
                </a:solidFill>
                <a:latin typeface="Times New Roman" panose="02020603050405020304" pitchFamily="18" charset="0"/>
                <a:cs typeface="Times New Roman" panose="02020603050405020304" pitchFamily="18" charset="0"/>
              </a:rPr>
              <a:t>Feature Scaling</a:t>
            </a:r>
          </a:p>
        </p:txBody>
      </p:sp>
      <p:sp>
        <p:nvSpPr>
          <p:cNvPr id="14" name="Slide Number Placeholder 13">
            <a:extLst>
              <a:ext uri="{FF2B5EF4-FFF2-40B4-BE49-F238E27FC236}">
                <a16:creationId xmlns:a16="http://schemas.microsoft.com/office/drawing/2014/main" id="{668C12E3-E1BE-D4BD-220B-E3C0F9D5CBB4}"/>
              </a:ext>
            </a:extLst>
          </p:cNvPr>
          <p:cNvSpPr>
            <a:spLocks noGrp="1"/>
          </p:cNvSpPr>
          <p:nvPr>
            <p:ph type="sldNum" sz="quarter" idx="55"/>
          </p:nvPr>
        </p:nvSpPr>
        <p:spPr>
          <a:xfrm>
            <a:off x="11630472" y="6379283"/>
            <a:ext cx="458592" cy="365125"/>
          </a:xfrm>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7096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4B1921-6D9A-CA99-4A41-8161CC7659A8}"/>
              </a:ext>
            </a:extLst>
          </p:cNvPr>
          <p:cNvSpPr>
            <a:spLocks noGrp="1"/>
          </p:cNvSpPr>
          <p:nvPr>
            <p:ph type="sldNum" sz="quarter" idx="12"/>
          </p:nvPr>
        </p:nvSpPr>
        <p:spPr>
          <a:xfrm>
            <a:off x="11637490" y="6376683"/>
            <a:ext cx="458592" cy="365125"/>
          </a:xfrm>
        </p:spPr>
        <p:txBody>
          <a:bodyPr/>
          <a:lstStyle/>
          <a:p>
            <a:fld id="{FEFB1823-63EE-423F-9C0B-A09E9E56188F}" type="slidenum">
              <a:rPr lang="en-IN" smtClean="0"/>
              <a:t>6</a:t>
            </a:fld>
            <a:endParaRPr lang="en-IN" dirty="0"/>
          </a:p>
        </p:txBody>
      </p:sp>
      <p:graphicFrame>
        <p:nvGraphicFramePr>
          <p:cNvPr id="2" name="Diagram 1">
            <a:extLst>
              <a:ext uri="{FF2B5EF4-FFF2-40B4-BE49-F238E27FC236}">
                <a16:creationId xmlns:a16="http://schemas.microsoft.com/office/drawing/2014/main" id="{026F6CC3-2735-988C-647F-DF4477EE95AD}"/>
              </a:ext>
            </a:extLst>
          </p:cNvPr>
          <p:cNvGraphicFramePr/>
          <p:nvPr>
            <p:extLst>
              <p:ext uri="{D42A27DB-BD31-4B8C-83A1-F6EECF244321}">
                <p14:modId xmlns:p14="http://schemas.microsoft.com/office/powerpoint/2010/main" val="3792203761"/>
              </p:ext>
            </p:extLst>
          </p:nvPr>
        </p:nvGraphicFramePr>
        <p:xfrm>
          <a:off x="484632" y="190475"/>
          <a:ext cx="7020550" cy="706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49B2C8B9-553A-61B3-087E-94E2014BEE2C}"/>
              </a:ext>
            </a:extLst>
          </p:cNvPr>
          <p:cNvSpPr txBox="1"/>
          <p:nvPr/>
        </p:nvSpPr>
        <p:spPr>
          <a:xfrm>
            <a:off x="484632" y="1206037"/>
            <a:ext cx="6955856" cy="5170646"/>
          </a:xfrm>
          <a:prstGeom prst="rect">
            <a:avLst/>
          </a:prstGeom>
        </p:spPr>
        <p:txBody>
          <a:bodyPr wrap="square" rtlCol="0">
            <a:spAutoFit/>
          </a:bodyPr>
          <a:lstStyle/>
          <a:p>
            <a:pPr marL="342900" indent="-342900" algn="just">
              <a:lnSpc>
                <a:spcPct val="100000"/>
              </a:lnSpc>
              <a:spcBef>
                <a:spcPts val="0"/>
              </a:spcBef>
              <a:buFont typeface="+mj-lt"/>
              <a:buAutoNum type="arabicPeriod"/>
            </a:pPr>
            <a:r>
              <a:rPr lang="en-US" sz="1500" b="1" dirty="0">
                <a:latin typeface="Times New Roman" panose="02020603050405020304" pitchFamily="18" charset="0"/>
                <a:ea typeface="微软雅黑"/>
                <a:cs typeface="Times New Roman" panose="02020603050405020304" pitchFamily="18" charset="0"/>
              </a:rPr>
              <a:t>Exploratory Data Analysis </a:t>
            </a:r>
            <a:r>
              <a:rPr lang="en-US" sz="1500" dirty="0">
                <a:latin typeface="Times New Roman" panose="02020603050405020304" pitchFamily="18" charset="0"/>
                <a:ea typeface="微软雅黑"/>
                <a:cs typeface="Times New Roman" panose="02020603050405020304" pitchFamily="18" charset="0"/>
              </a:rPr>
              <a:t>(EDA) is the process of analyzing and visualizing a dataset to understand its key characteristics before applying machine learning models. It helps identify patterns, trends, missing values, outliers, and relationships between variables.</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Using visuals helped us see the data clearly, understand the clinical data relationship with each other, and pinpoint factors that plays vital role in predictions of Breast Cancer disease.</a:t>
            </a:r>
          </a:p>
          <a:p>
            <a:pPr marL="342900" indent="-342900" algn="just">
              <a:lnSpc>
                <a:spcPct val="100000"/>
              </a:lnSpc>
              <a:spcBef>
                <a:spcPts val="0"/>
              </a:spcBef>
              <a:buFont typeface="+mj-lt"/>
              <a:buAutoNum type="arabicPeriod"/>
            </a:pPr>
            <a:endParaRPr lang="en-IN"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Insights from EDA help you decide which features are most important for building models and how to prepare them to improve performance.</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Some features may be closely related to each other. We use a heatmap to check for strong connections between variables. If two features provide similar information, we may remove one to avoid redundancy.</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Univariate analysis looks at one feature at a time to understand its distribution using simple statistics and graphs like histograms and bar charts. </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Bivariate analysis examines the relationship between two variables and graph like scatter plots, pair plots. This helps us find important factors that may affect predictions.</a:t>
            </a:r>
          </a:p>
          <a:p>
            <a:pPr marL="0" indent="0" algn="just">
              <a:lnSpc>
                <a:spcPct val="100000"/>
              </a:lnSpc>
              <a:spcBef>
                <a:spcPts val="0"/>
              </a:spcBef>
              <a:buFontTx/>
              <a:buNone/>
            </a:pPr>
            <a:endParaRPr lang="en-IN" sz="1500" dirty="0">
              <a:latin typeface="Times New Roman" panose="02020603050405020304" pitchFamily="18" charset="0"/>
              <a:ea typeface="微软雅黑"/>
              <a:cs typeface="Times New Roman" panose="02020603050405020304" pitchFamily="18" charset="0"/>
            </a:endParaRPr>
          </a:p>
        </p:txBody>
      </p:sp>
      <p:pic>
        <p:nvPicPr>
          <p:cNvPr id="21" name="Picture 20">
            <a:extLst>
              <a:ext uri="{FF2B5EF4-FFF2-40B4-BE49-F238E27FC236}">
                <a16:creationId xmlns:a16="http://schemas.microsoft.com/office/drawing/2014/main" id="{198116E5-F335-42A2-5DC1-D1174CBE397C}"/>
              </a:ext>
            </a:extLst>
          </p:cNvPr>
          <p:cNvPicPr>
            <a:picLocks noChangeAspect="1"/>
          </p:cNvPicPr>
          <p:nvPr/>
        </p:nvPicPr>
        <p:blipFill>
          <a:blip r:embed="rId7"/>
          <a:stretch>
            <a:fillRect/>
          </a:stretch>
        </p:blipFill>
        <p:spPr>
          <a:xfrm>
            <a:off x="7626571" y="3490982"/>
            <a:ext cx="4469511" cy="2620304"/>
          </a:xfrm>
          <a:prstGeom prst="rect">
            <a:avLst/>
          </a:prstGeom>
        </p:spPr>
      </p:pic>
      <p:pic>
        <p:nvPicPr>
          <p:cNvPr id="25" name="Picture 24">
            <a:extLst>
              <a:ext uri="{FF2B5EF4-FFF2-40B4-BE49-F238E27FC236}">
                <a16:creationId xmlns:a16="http://schemas.microsoft.com/office/drawing/2014/main" id="{3C134F1C-BDA7-A438-5670-4FEE02931FB4}"/>
              </a:ext>
            </a:extLst>
          </p:cNvPr>
          <p:cNvPicPr>
            <a:picLocks noChangeAspect="1"/>
          </p:cNvPicPr>
          <p:nvPr/>
        </p:nvPicPr>
        <p:blipFill>
          <a:blip r:embed="rId8"/>
          <a:stretch>
            <a:fillRect/>
          </a:stretch>
        </p:blipFill>
        <p:spPr>
          <a:xfrm>
            <a:off x="7801048" y="883047"/>
            <a:ext cx="4120559" cy="2392583"/>
          </a:xfrm>
          <a:prstGeom prst="rect">
            <a:avLst/>
          </a:prstGeom>
        </p:spPr>
      </p:pic>
    </p:spTree>
    <p:extLst>
      <p:ext uri="{BB962C8B-B14F-4D97-AF65-F5344CB8AC3E}">
        <p14:creationId xmlns:p14="http://schemas.microsoft.com/office/powerpoint/2010/main" val="1452112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12E3336-8174-9814-8067-EE3C1CB214F9}"/>
              </a:ext>
            </a:extLst>
          </p:cNvPr>
          <p:cNvSpPr>
            <a:spLocks noGrp="1"/>
          </p:cNvSpPr>
          <p:nvPr>
            <p:ph type="ftr" sz="quarter" idx="11"/>
          </p:nvPr>
        </p:nvSpPr>
        <p:spPr>
          <a:xfrm>
            <a:off x="427111" y="3707023"/>
            <a:ext cx="5320469" cy="2857666"/>
          </a:xfrm>
        </p:spPr>
        <p:txBody>
          <a:bodyPr anchor="t"/>
          <a:lstStyle/>
          <a:p>
            <a:pPr marL="171450" indent="-1714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majority of customer reviews are </a:t>
            </a:r>
            <a:r>
              <a:rPr lang="en-US" b="1" dirty="0">
                <a:latin typeface="Times New Roman" panose="02020603050405020304" pitchFamily="18" charset="0"/>
                <a:cs typeface="Times New Roman" panose="02020603050405020304" pitchFamily="18" charset="0"/>
              </a:rPr>
              <a:t>5-star ratings</a:t>
            </a:r>
            <a:r>
              <a:rPr lang="en-US" dirty="0">
                <a:latin typeface="Times New Roman" panose="02020603050405020304" pitchFamily="18" charset="0"/>
                <a:cs typeface="Times New Roman" panose="02020603050405020304" pitchFamily="18" charset="0"/>
              </a:rPr>
              <a:t>, indicating a high level of overall customer satisfaction and positive sentiment. </a:t>
            </a:r>
          </a:p>
          <a:p>
            <a:pPr marL="171450" indent="-171450">
              <a:buFont typeface="Arial" panose="020B0604020202020204" pitchFamily="34" charset="0"/>
              <a:buChar char="•"/>
            </a:pPr>
            <a:endParaRPr lang="en-US" sz="5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significant portion of </a:t>
            </a:r>
            <a:r>
              <a:rPr lang="en-US" b="1" dirty="0">
                <a:latin typeface="Times New Roman" panose="02020603050405020304" pitchFamily="18" charset="0"/>
                <a:cs typeface="Times New Roman" panose="02020603050405020304" pitchFamily="18" charset="0"/>
              </a:rPr>
              <a:t>4-star ratings</a:t>
            </a:r>
            <a:r>
              <a:rPr lang="en-US" dirty="0">
                <a:latin typeface="Times New Roman" panose="02020603050405020304" pitchFamily="18" charset="0"/>
                <a:cs typeface="Times New Roman" panose="02020603050405020304" pitchFamily="18" charset="0"/>
              </a:rPr>
              <a:t> suggests that customers are generally satisfied but may have minor concerns or areas for improvement. </a:t>
            </a:r>
          </a:p>
          <a:p>
            <a:pPr marL="171450" indent="-171450">
              <a:buFont typeface="Arial" panose="020B0604020202020204" pitchFamily="34" charset="0"/>
              <a:buChar char="•"/>
            </a:pPr>
            <a:endParaRPr lang="en-US" sz="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3-star ratings</a:t>
            </a:r>
            <a:r>
              <a:rPr lang="en-US" dirty="0">
                <a:latin typeface="Times New Roman" panose="02020603050405020304" pitchFamily="18" charset="0"/>
                <a:cs typeface="Times New Roman" panose="02020603050405020304" pitchFamily="18" charset="0"/>
              </a:rPr>
              <a:t> represent a moderate number of neutral opinions, showing mixed experiences among some users. </a:t>
            </a:r>
          </a:p>
          <a:p>
            <a:pPr marL="171450" indent="-171450">
              <a:buFont typeface="Arial" panose="020B0604020202020204" pitchFamily="34" charset="0"/>
              <a:buChar char="•"/>
            </a:pPr>
            <a:endParaRPr lang="en-US" sz="5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1-star and 2-star ratings</a:t>
            </a:r>
            <a:r>
              <a:rPr lang="en-US" dirty="0">
                <a:latin typeface="Times New Roman" panose="02020603050405020304" pitchFamily="18" charset="0"/>
                <a:cs typeface="Times New Roman" panose="02020603050405020304" pitchFamily="18" charset="0"/>
              </a:rPr>
              <a:t> are comparatively low, indicating fewer negative      experiences but still highlighting specific issues that need attention.</a:t>
            </a:r>
          </a:p>
          <a:p>
            <a:pPr marL="171450" indent="-171450">
              <a:buFont typeface="Arial" panose="020B0604020202020204" pitchFamily="34" charset="0"/>
              <a:buChar char="•"/>
            </a:pPr>
            <a:endParaRPr lang="en-US" sz="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distribution is skewed towards higher ratings, indicating a strong positive perception of the product in the market.</a:t>
            </a:r>
          </a:p>
          <a:p>
            <a:pPr marL="171450" indent="-171450">
              <a:buFont typeface="Arial" panose="020B0604020202020204" pitchFamily="34" charset="0"/>
              <a:buChar char="•"/>
            </a:pPr>
            <a:endParaRPr lang="en-US" sz="5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gap between 5-star and lower ratings highlights that most users are highly satisfied rather than just moderately satisfied.</a:t>
            </a:r>
          </a:p>
        </p:txBody>
      </p:sp>
      <p:sp>
        <p:nvSpPr>
          <p:cNvPr id="3" name="Slide Number Placeholder 2">
            <a:extLst>
              <a:ext uri="{FF2B5EF4-FFF2-40B4-BE49-F238E27FC236}">
                <a16:creationId xmlns:a16="http://schemas.microsoft.com/office/drawing/2014/main" id="{7994059F-8EE6-C131-CB5E-8971A7945631}"/>
              </a:ext>
            </a:extLst>
          </p:cNvPr>
          <p:cNvSpPr>
            <a:spLocks noGrp="1"/>
          </p:cNvSpPr>
          <p:nvPr>
            <p:ph type="sldNum" sz="quarter" idx="12"/>
          </p:nvPr>
        </p:nvSpPr>
        <p:spPr>
          <a:xfrm>
            <a:off x="11769915" y="6533773"/>
            <a:ext cx="458592" cy="365125"/>
          </a:xfrm>
        </p:spPr>
        <p:txBody>
          <a:bodyPr/>
          <a:lstStyle/>
          <a:p>
            <a:fld id="{FEFB1823-63EE-423F-9C0B-A09E9E56188F}" type="slidenum">
              <a:rPr lang="en-IN" smtClean="0"/>
              <a:t>7</a:t>
            </a:fld>
            <a:endParaRPr lang="en-IN" dirty="0"/>
          </a:p>
        </p:txBody>
      </p:sp>
      <p:sp>
        <p:nvSpPr>
          <p:cNvPr id="29" name="TextBox 28">
            <a:extLst>
              <a:ext uri="{FF2B5EF4-FFF2-40B4-BE49-F238E27FC236}">
                <a16:creationId xmlns:a16="http://schemas.microsoft.com/office/drawing/2014/main" id="{ACD9FA8B-11D4-0757-587A-8F387162803E}"/>
              </a:ext>
            </a:extLst>
          </p:cNvPr>
          <p:cNvSpPr txBox="1"/>
          <p:nvPr/>
        </p:nvSpPr>
        <p:spPr>
          <a:xfrm>
            <a:off x="869888" y="16855"/>
            <a:ext cx="4347262" cy="369332"/>
          </a:xfrm>
          <a:prstGeom prst="rect">
            <a:avLst/>
          </a:prstGeom>
        </p:spPr>
        <p:txBody>
          <a:bodyPr wrap="square" rtlCol="0">
            <a:spAutoFit/>
          </a:bodyPr>
          <a:lstStyle/>
          <a:p>
            <a:pPr marL="0" indent="0" algn="ctr">
              <a:lnSpc>
                <a:spcPct val="100000"/>
              </a:lnSpc>
              <a:spcBef>
                <a:spcPts val="0"/>
              </a:spcBef>
              <a:buFontTx/>
              <a:buNone/>
            </a:pPr>
            <a:r>
              <a:rPr lang="en-IN" dirty="0">
                <a:latin typeface="Posterama" panose="020B0504020200020000" pitchFamily="34" charset="0"/>
                <a:ea typeface="微软雅黑"/>
                <a:cs typeface="Posterama" panose="020B0504020200020000" pitchFamily="34" charset="0"/>
              </a:rPr>
              <a:t>Star Rating Distribution</a:t>
            </a:r>
            <a:endParaRPr lang="en-IN" sz="1800" dirty="0">
              <a:latin typeface="Posterama" panose="020B0504020200020000" pitchFamily="34" charset="0"/>
              <a:ea typeface="微软雅黑"/>
              <a:cs typeface="Posterama" panose="020B0504020200020000" pitchFamily="34" charset="0"/>
            </a:endParaRPr>
          </a:p>
        </p:txBody>
      </p:sp>
      <p:sp>
        <p:nvSpPr>
          <p:cNvPr id="30" name="TextBox 29">
            <a:extLst>
              <a:ext uri="{FF2B5EF4-FFF2-40B4-BE49-F238E27FC236}">
                <a16:creationId xmlns:a16="http://schemas.microsoft.com/office/drawing/2014/main" id="{03C215E0-3A81-3817-F91E-A07705F2E279}"/>
              </a:ext>
            </a:extLst>
          </p:cNvPr>
          <p:cNvSpPr txBox="1"/>
          <p:nvPr/>
        </p:nvSpPr>
        <p:spPr>
          <a:xfrm>
            <a:off x="6891091" y="16855"/>
            <a:ext cx="4717958" cy="369332"/>
          </a:xfrm>
          <a:prstGeom prst="rect">
            <a:avLst/>
          </a:prstGeom>
        </p:spPr>
        <p:txBody>
          <a:bodyPr wrap="none" rtlCol="0">
            <a:spAutoFit/>
          </a:bodyPr>
          <a:lstStyle/>
          <a:p>
            <a:pPr marL="0" indent="0" algn="ctr">
              <a:lnSpc>
                <a:spcPct val="100000"/>
              </a:lnSpc>
              <a:spcBef>
                <a:spcPts val="0"/>
              </a:spcBef>
              <a:buFontTx/>
              <a:buNone/>
            </a:pPr>
            <a:r>
              <a:rPr lang="en-US" dirty="0">
                <a:latin typeface="Posterama" panose="020B0504020200020000" pitchFamily="34" charset="0"/>
                <a:ea typeface="微软雅黑"/>
                <a:cs typeface="Posterama" panose="020B0504020200020000" pitchFamily="34" charset="0"/>
              </a:rPr>
              <a:t>Sentiment Distribution Across Star Ratings</a:t>
            </a:r>
            <a:endParaRPr lang="en-IN" sz="1800" dirty="0">
              <a:latin typeface="Posterama" panose="020B0504020200020000" pitchFamily="34" charset="0"/>
              <a:ea typeface="微软雅黑"/>
              <a:cs typeface="Posterama" panose="020B0504020200020000" pitchFamily="34" charset="0"/>
            </a:endParaRPr>
          </a:p>
        </p:txBody>
      </p:sp>
      <p:cxnSp>
        <p:nvCxnSpPr>
          <p:cNvPr id="32" name="Straight Connector 31">
            <a:extLst>
              <a:ext uri="{FF2B5EF4-FFF2-40B4-BE49-F238E27FC236}">
                <a16:creationId xmlns:a16="http://schemas.microsoft.com/office/drawing/2014/main" id="{1DA2D0D1-B5EB-BC8C-7096-60E16B503FAA}"/>
              </a:ext>
            </a:extLst>
          </p:cNvPr>
          <p:cNvCxnSpPr>
            <a:cxnSpLocks/>
          </p:cNvCxnSpPr>
          <p:nvPr/>
        </p:nvCxnSpPr>
        <p:spPr>
          <a:xfrm>
            <a:off x="6114721" y="0"/>
            <a:ext cx="80680" cy="7010400"/>
          </a:xfrm>
          <a:prstGeom prst="line">
            <a:avLst/>
          </a:prstGeom>
          <a:ln w="9525"/>
        </p:spPr>
        <p:style>
          <a:lnRef idx="1">
            <a:schemeClr val="dk1"/>
          </a:lnRef>
          <a:fillRef idx="0">
            <a:schemeClr val="dk1"/>
          </a:fillRef>
          <a:effectRef idx="0">
            <a:schemeClr val="dk1"/>
          </a:effectRef>
          <a:fontRef idx="minor">
            <a:schemeClr val="tx1"/>
          </a:fontRef>
        </p:style>
      </p:cxnSp>
      <p:sp>
        <p:nvSpPr>
          <p:cNvPr id="5" name="Rectangle 1">
            <a:extLst>
              <a:ext uri="{FF2B5EF4-FFF2-40B4-BE49-F238E27FC236}">
                <a16:creationId xmlns:a16="http://schemas.microsoft.com/office/drawing/2014/main" id="{29DB091F-1D61-B8C7-EA10-5442EC5B945D}"/>
              </a:ext>
            </a:extLst>
          </p:cNvPr>
          <p:cNvSpPr>
            <a:spLocks noChangeArrowheads="1"/>
          </p:cNvSpPr>
          <p:nvPr/>
        </p:nvSpPr>
        <p:spPr bwMode="auto">
          <a:xfrm>
            <a:off x="6511920" y="3707023"/>
            <a:ext cx="5421717"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171450" lvl="0" indent="-171450" algn="just" eaLnBrk="0" fontAlgn="base" hangingPunct="0">
              <a:spcBef>
                <a:spcPct val="0"/>
              </a:spcBef>
              <a:spcAft>
                <a:spcPct val="0"/>
              </a:spcAft>
              <a:buFont typeface="Arial" panose="020B0604020202020204" pitchFamily="34" charset="0"/>
              <a:buChar char="•"/>
            </a:pPr>
            <a:r>
              <a:rPr lang="en-US" altLang="en-US" sz="1200" dirty="0">
                <a:latin typeface="Times New Roman" panose="02020603050405020304" pitchFamily="18" charset="0"/>
                <a:cs typeface="Times New Roman" panose="02020603050405020304" pitchFamily="18" charset="0"/>
              </a:rPr>
              <a:t>There is a strong relationship between star ratings and sentiment, where low ratings (1–2) mostly show negative sentiment and high ratings (4–5) show positive sentiment.</a:t>
            </a:r>
          </a:p>
          <a:p>
            <a:pPr marL="171450" lvl="0" indent="-171450" algn="just" eaLnBrk="0" fontAlgn="base" hangingPunct="0">
              <a:spcBef>
                <a:spcPct val="0"/>
              </a:spcBef>
              <a:spcAft>
                <a:spcPct val="0"/>
              </a:spcAft>
              <a:buFont typeface="Arial" panose="020B0604020202020204" pitchFamily="34" charset="0"/>
              <a:buChar char="•"/>
            </a:pPr>
            <a:endParaRPr lang="en-US" altLang="en-US" sz="500" dirty="0">
              <a:latin typeface="Times New Roman" panose="02020603050405020304" pitchFamily="18" charset="0"/>
              <a:cs typeface="Times New Roman" panose="02020603050405020304" pitchFamily="18" charset="0"/>
            </a:endParaRPr>
          </a:p>
          <a:p>
            <a:pPr marL="171450" lvl="0" indent="-171450" algn="just" eaLnBrk="0" fontAlgn="base" hangingPunct="0">
              <a:spcBef>
                <a:spcPct val="0"/>
              </a:spcBef>
              <a:spcAft>
                <a:spcPct val="0"/>
              </a:spcAft>
              <a:buFont typeface="Arial" panose="020B0604020202020204" pitchFamily="34" charset="0"/>
              <a:buChar char="•"/>
            </a:pPr>
            <a:r>
              <a:rPr lang="en-US" altLang="en-US" sz="1200" dirty="0">
                <a:latin typeface="Times New Roman" panose="02020603050405020304" pitchFamily="18" charset="0"/>
                <a:cs typeface="Times New Roman" panose="02020603050405020304" pitchFamily="18" charset="0"/>
              </a:rPr>
              <a:t>Positive sentiment dominates the dataset, especially in 4-star and 5-star reviews, indicating high customer satisfaction.</a:t>
            </a:r>
          </a:p>
          <a:p>
            <a:pPr marL="171450" lvl="0" indent="-171450" algn="just" eaLnBrk="0" fontAlgn="base" hangingPunct="0">
              <a:spcBef>
                <a:spcPct val="0"/>
              </a:spcBef>
              <a:spcAft>
                <a:spcPct val="0"/>
              </a:spcAft>
              <a:buFont typeface="Arial" panose="020B0604020202020204" pitchFamily="34" charset="0"/>
              <a:buChar char="•"/>
            </a:pPr>
            <a:endParaRPr lang="en-US" altLang="en-US" sz="600" dirty="0">
              <a:latin typeface="Times New Roman" panose="02020603050405020304" pitchFamily="18" charset="0"/>
              <a:cs typeface="Times New Roman" panose="02020603050405020304" pitchFamily="18" charset="0"/>
            </a:endParaRPr>
          </a:p>
          <a:p>
            <a:pPr marL="171450" lvl="0" indent="-171450" algn="just" eaLnBrk="0" fontAlgn="base" hangingPunct="0">
              <a:spcBef>
                <a:spcPct val="0"/>
              </a:spcBef>
              <a:spcAft>
                <a:spcPct val="0"/>
              </a:spcAft>
              <a:buFont typeface="Arial" panose="020B0604020202020204" pitchFamily="34" charset="0"/>
              <a:buChar char="•"/>
            </a:pPr>
            <a:r>
              <a:rPr lang="en-US" altLang="en-US" sz="1200" dirty="0">
                <a:latin typeface="Times New Roman" panose="02020603050405020304" pitchFamily="18" charset="0"/>
                <a:cs typeface="Times New Roman" panose="02020603050405020304" pitchFamily="18" charset="0"/>
              </a:rPr>
              <a:t>Neutral sentiment is mainly present in 3-star ratings, reflecting mixed or average customer experiences.</a:t>
            </a:r>
          </a:p>
          <a:p>
            <a:pPr marL="171450" lvl="0" indent="-171450" algn="just" eaLnBrk="0" fontAlgn="base" hangingPunct="0">
              <a:spcBef>
                <a:spcPct val="0"/>
              </a:spcBef>
              <a:spcAft>
                <a:spcPct val="0"/>
              </a:spcAft>
              <a:buFont typeface="Arial" panose="020B0604020202020204" pitchFamily="34" charset="0"/>
              <a:buChar char="•"/>
            </a:pPr>
            <a:endParaRPr lang="en-US" altLang="en-US" sz="500" dirty="0">
              <a:latin typeface="Times New Roman" panose="02020603050405020304" pitchFamily="18" charset="0"/>
              <a:cs typeface="Times New Roman" panose="02020603050405020304" pitchFamily="18" charset="0"/>
            </a:endParaRPr>
          </a:p>
          <a:p>
            <a:pPr marL="171450" lvl="0" indent="-171450" algn="just" eaLnBrk="0" fontAlgn="base" hangingPunct="0">
              <a:spcBef>
                <a:spcPct val="0"/>
              </a:spcBef>
              <a:spcAft>
                <a:spcPct val="0"/>
              </a:spcAft>
              <a:buFont typeface="Arial" panose="020B0604020202020204" pitchFamily="34" charset="0"/>
              <a:buChar char="•"/>
            </a:pPr>
            <a:r>
              <a:rPr lang="en-US" altLang="en-US" sz="1200" dirty="0">
                <a:latin typeface="Times New Roman" panose="02020603050405020304" pitchFamily="18" charset="0"/>
                <a:cs typeface="Times New Roman" panose="02020603050405020304" pitchFamily="18" charset="0"/>
              </a:rPr>
              <a:t>Negative sentiment is concentrated in 1-star and 2-star reviews, highlighting dissatisfaction and potential issues.</a:t>
            </a:r>
            <a:endParaRPr lang="en-US" altLang="en-US" sz="6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sz="500" dirty="0">
              <a:latin typeface="Times New Roman" panose="02020603050405020304" pitchFamily="18" charset="0"/>
              <a:cs typeface="Times New Roman" panose="02020603050405020304" pitchFamily="18" charset="0"/>
            </a:endParaRPr>
          </a:p>
          <a:p>
            <a:pPr marL="171450" lvl="0" indent="-171450" algn="just" eaLnBrk="0" fontAlgn="base" hangingPunct="0">
              <a:spcBef>
                <a:spcPct val="0"/>
              </a:spcBef>
              <a:spcAft>
                <a:spcPct val="0"/>
              </a:spcAft>
              <a:buFont typeface="Arial" panose="020B0604020202020204" pitchFamily="34" charset="0"/>
              <a:buChar char="•"/>
            </a:pPr>
            <a:r>
              <a:rPr lang="en-US" altLang="en-US" sz="1200" dirty="0">
                <a:latin typeface="Times New Roman" panose="02020603050405020304" pitchFamily="18" charset="0"/>
                <a:cs typeface="Times New Roman" panose="02020603050405020304" pitchFamily="18" charset="0"/>
              </a:rPr>
              <a:t>There is a clear upward trend, where sentiment becomes more positive as the star rating increases.</a:t>
            </a:r>
            <a:endParaRPr lang="en-US" altLang="en-US" sz="4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sz="500" dirty="0">
              <a:latin typeface="Times New Roman" panose="02020603050405020304" pitchFamily="18" charset="0"/>
              <a:cs typeface="Times New Roman" panose="02020603050405020304" pitchFamily="18" charset="0"/>
            </a:endParaRPr>
          </a:p>
          <a:p>
            <a:pPr marL="171450" lvl="0" indent="-171450" algn="just" eaLnBrk="0" fontAlgn="base" hangingPunct="0">
              <a:spcBef>
                <a:spcPct val="0"/>
              </a:spcBef>
              <a:spcAft>
                <a:spcPct val="0"/>
              </a:spcAft>
              <a:buFont typeface="Arial" panose="020B0604020202020204" pitchFamily="34" charset="0"/>
              <a:buChar char="•"/>
            </a:pPr>
            <a:r>
              <a:rPr lang="en-US" altLang="en-US" sz="1200" dirty="0">
                <a:latin typeface="Times New Roman" panose="02020603050405020304" pitchFamily="18" charset="0"/>
                <a:cs typeface="Times New Roman" panose="02020603050405020304" pitchFamily="18" charset="0"/>
              </a:rPr>
              <a:t>The alignment between ratings and sentiment shows that the model is accurately capturing customer opinions from text data.</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descr="A bar graph with blue squares">
            <a:extLst>
              <a:ext uri="{FF2B5EF4-FFF2-40B4-BE49-F238E27FC236}">
                <a16:creationId xmlns:a16="http://schemas.microsoft.com/office/drawing/2014/main" id="{97835781-0157-C488-43B8-D80F7A34761C}"/>
              </a:ext>
            </a:extLst>
          </p:cNvPr>
          <p:cNvPicPr>
            <a:picLocks noChangeAspect="1"/>
          </p:cNvPicPr>
          <p:nvPr/>
        </p:nvPicPr>
        <p:blipFill>
          <a:blip r:embed="rId2"/>
          <a:stretch>
            <a:fillRect/>
          </a:stretch>
        </p:blipFill>
        <p:spPr>
          <a:xfrm>
            <a:off x="427111" y="458609"/>
            <a:ext cx="5385827" cy="3027840"/>
          </a:xfrm>
          <a:prstGeom prst="rect">
            <a:avLst/>
          </a:prstGeom>
          <a:ln w="6350">
            <a:solidFill>
              <a:schemeClr val="tx1"/>
            </a:solidFill>
          </a:ln>
        </p:spPr>
      </p:pic>
      <p:pic>
        <p:nvPicPr>
          <p:cNvPr id="9" name="Picture 8" descr="A graph showing a bar chart&#10;&#10;AI-generated content may be incorrect.">
            <a:extLst>
              <a:ext uri="{FF2B5EF4-FFF2-40B4-BE49-F238E27FC236}">
                <a16:creationId xmlns:a16="http://schemas.microsoft.com/office/drawing/2014/main" id="{E53A99C1-88B6-A76A-662A-B9F27BAE78E8}"/>
              </a:ext>
            </a:extLst>
          </p:cNvPr>
          <p:cNvPicPr>
            <a:picLocks noChangeAspect="1"/>
          </p:cNvPicPr>
          <p:nvPr/>
        </p:nvPicPr>
        <p:blipFill>
          <a:blip r:embed="rId3"/>
          <a:stretch>
            <a:fillRect/>
          </a:stretch>
        </p:blipFill>
        <p:spPr>
          <a:xfrm>
            <a:off x="6562542" y="439858"/>
            <a:ext cx="5231900" cy="3046591"/>
          </a:xfrm>
          <a:prstGeom prst="rect">
            <a:avLst/>
          </a:prstGeom>
          <a:ln w="9525">
            <a:solidFill>
              <a:schemeClr val="tx1"/>
            </a:solidFill>
          </a:ln>
        </p:spPr>
      </p:pic>
    </p:spTree>
    <p:extLst>
      <p:ext uri="{BB962C8B-B14F-4D97-AF65-F5344CB8AC3E}">
        <p14:creationId xmlns:p14="http://schemas.microsoft.com/office/powerpoint/2010/main" val="413617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43AE2-7EE3-4F0B-BB73-72632F7EC04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E0335B-7E27-5C6A-1433-CB7EFA5D89CF}"/>
              </a:ext>
            </a:extLst>
          </p:cNvPr>
          <p:cNvSpPr>
            <a:spLocks noGrp="1"/>
          </p:cNvSpPr>
          <p:nvPr>
            <p:ph type="ftr" sz="quarter" idx="11"/>
          </p:nvPr>
        </p:nvSpPr>
        <p:spPr>
          <a:xfrm>
            <a:off x="285497" y="3873946"/>
            <a:ext cx="5712265" cy="2891858"/>
          </a:xfrm>
        </p:spPr>
        <p:txBody>
          <a:bodyPr anchor="t"/>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purchases dominate the dataset, indicating that most reviews come from genuine buyers.</a:t>
            </a:r>
          </a:p>
          <a:p>
            <a:pPr algn="just"/>
            <a:endParaRPr lang="en-US" sz="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Positive sentiment is highest among verified purchases, showing that actual customers are largely satisfied with the product.</a:t>
            </a:r>
          </a:p>
          <a:p>
            <a:pPr algn="just"/>
            <a:endParaRPr lang="en-US" sz="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Non-verified purchases have significantly fewer reviews, making them less reliable for overall sentiment analysis.</a:t>
            </a:r>
          </a:p>
          <a:p>
            <a:pPr marL="285750" indent="-285750" algn="just">
              <a:buFont typeface="Arial" panose="020B0604020202020204" pitchFamily="34" charset="0"/>
              <a:buChar char="•"/>
            </a:pPr>
            <a:endParaRPr lang="en-US" sz="5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Negative sentiment exists in both verified and non-verified reviews, but it is slightly more noticeable among non-verified users proportionally.</a:t>
            </a:r>
          </a:p>
          <a:p>
            <a:pPr algn="just"/>
            <a:endParaRPr lang="en-US" sz="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Neutral sentiment is relatively low in both categories, indicating that most users have a clear opinion (either positive or negative).</a:t>
            </a:r>
          </a:p>
          <a:p>
            <a:pPr algn="just"/>
            <a:endParaRPr lang="en-US" sz="5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Verified reviews are more trustworthy and consistent, making them more valuable for business insights and decision-making.</a:t>
            </a:r>
          </a:p>
        </p:txBody>
      </p:sp>
      <p:sp>
        <p:nvSpPr>
          <p:cNvPr id="3" name="Slide Number Placeholder 2">
            <a:extLst>
              <a:ext uri="{FF2B5EF4-FFF2-40B4-BE49-F238E27FC236}">
                <a16:creationId xmlns:a16="http://schemas.microsoft.com/office/drawing/2014/main" id="{23CE961E-ACDA-66F0-83B9-6F5A5A176C08}"/>
              </a:ext>
            </a:extLst>
          </p:cNvPr>
          <p:cNvSpPr>
            <a:spLocks noGrp="1"/>
          </p:cNvSpPr>
          <p:nvPr>
            <p:ph type="sldNum" sz="quarter" idx="12"/>
          </p:nvPr>
        </p:nvSpPr>
        <p:spPr>
          <a:xfrm>
            <a:off x="11769915" y="6533773"/>
            <a:ext cx="458592" cy="365125"/>
          </a:xfrm>
        </p:spPr>
        <p:txBody>
          <a:bodyPr/>
          <a:lstStyle/>
          <a:p>
            <a:fld id="{FEFB1823-63EE-423F-9C0B-A09E9E56188F}" type="slidenum">
              <a:rPr lang="en-IN" smtClean="0"/>
              <a:t>8</a:t>
            </a:fld>
            <a:endParaRPr lang="en-IN" dirty="0"/>
          </a:p>
        </p:txBody>
      </p:sp>
      <p:sp>
        <p:nvSpPr>
          <p:cNvPr id="29" name="TextBox 28">
            <a:extLst>
              <a:ext uri="{FF2B5EF4-FFF2-40B4-BE49-F238E27FC236}">
                <a16:creationId xmlns:a16="http://schemas.microsoft.com/office/drawing/2014/main" id="{C05E20C8-E2BB-586B-304C-4A814C5272D2}"/>
              </a:ext>
            </a:extLst>
          </p:cNvPr>
          <p:cNvSpPr txBox="1"/>
          <p:nvPr/>
        </p:nvSpPr>
        <p:spPr>
          <a:xfrm>
            <a:off x="471577" y="92196"/>
            <a:ext cx="5320468" cy="369332"/>
          </a:xfrm>
          <a:prstGeom prst="rect">
            <a:avLst/>
          </a:prstGeom>
        </p:spPr>
        <p:txBody>
          <a:bodyPr wrap="square" rtlCol="0">
            <a:spAutoFit/>
          </a:bodyPr>
          <a:lstStyle/>
          <a:p>
            <a:pPr marL="0" indent="0" algn="ctr">
              <a:lnSpc>
                <a:spcPct val="100000"/>
              </a:lnSpc>
              <a:spcBef>
                <a:spcPts val="0"/>
              </a:spcBef>
              <a:buFontTx/>
              <a:buNone/>
            </a:pPr>
            <a:r>
              <a:rPr lang="en-IN" dirty="0">
                <a:latin typeface="Posterama" panose="020B0504020200020000" pitchFamily="34" charset="0"/>
                <a:ea typeface="微软雅黑"/>
                <a:cs typeface="Posterama" panose="020B0504020200020000" pitchFamily="34" charset="0"/>
              </a:rPr>
              <a:t>Verified Purchase vs Sentiment</a:t>
            </a:r>
            <a:endParaRPr lang="en-IN" sz="1800" dirty="0">
              <a:latin typeface="Posterama" panose="020B0504020200020000" pitchFamily="34" charset="0"/>
              <a:ea typeface="微软雅黑"/>
              <a:cs typeface="Posterama" panose="020B0504020200020000" pitchFamily="34" charset="0"/>
            </a:endParaRPr>
          </a:p>
        </p:txBody>
      </p:sp>
      <p:sp>
        <p:nvSpPr>
          <p:cNvPr id="30" name="TextBox 29">
            <a:extLst>
              <a:ext uri="{FF2B5EF4-FFF2-40B4-BE49-F238E27FC236}">
                <a16:creationId xmlns:a16="http://schemas.microsoft.com/office/drawing/2014/main" id="{7A55760E-C341-ACB5-7878-565BE1D0CA85}"/>
              </a:ext>
            </a:extLst>
          </p:cNvPr>
          <p:cNvSpPr txBox="1"/>
          <p:nvPr/>
        </p:nvSpPr>
        <p:spPr>
          <a:xfrm>
            <a:off x="7927416" y="92196"/>
            <a:ext cx="2590774" cy="369332"/>
          </a:xfrm>
          <a:prstGeom prst="rect">
            <a:avLst/>
          </a:prstGeom>
        </p:spPr>
        <p:txBody>
          <a:bodyPr wrap="none" rtlCol="0">
            <a:spAutoFit/>
          </a:bodyPr>
          <a:lstStyle/>
          <a:p>
            <a:pPr marL="0" indent="0" algn="ctr">
              <a:lnSpc>
                <a:spcPct val="100000"/>
              </a:lnSpc>
              <a:spcBef>
                <a:spcPts val="0"/>
              </a:spcBef>
              <a:buFontTx/>
              <a:buNone/>
            </a:pPr>
            <a:r>
              <a:rPr lang="en-IN" dirty="0">
                <a:latin typeface="Posterama" panose="020B0504020200020000" pitchFamily="34" charset="0"/>
                <a:ea typeface="微软雅黑"/>
                <a:cs typeface="Posterama" panose="020B0504020200020000" pitchFamily="34" charset="0"/>
              </a:rPr>
              <a:t>Sentiment Distribution</a:t>
            </a:r>
          </a:p>
        </p:txBody>
      </p:sp>
      <p:cxnSp>
        <p:nvCxnSpPr>
          <p:cNvPr id="32" name="Straight Connector 31">
            <a:extLst>
              <a:ext uri="{FF2B5EF4-FFF2-40B4-BE49-F238E27FC236}">
                <a16:creationId xmlns:a16="http://schemas.microsoft.com/office/drawing/2014/main" id="{B1722791-CE9E-FEE5-0BC4-777337CE7355}"/>
              </a:ext>
            </a:extLst>
          </p:cNvPr>
          <p:cNvCxnSpPr>
            <a:cxnSpLocks/>
          </p:cNvCxnSpPr>
          <p:nvPr/>
        </p:nvCxnSpPr>
        <p:spPr>
          <a:xfrm>
            <a:off x="6114721" y="0"/>
            <a:ext cx="80680" cy="7010400"/>
          </a:xfrm>
          <a:prstGeom prst="line">
            <a:avLst/>
          </a:prstGeom>
          <a:ln w="9525"/>
        </p:spPr>
        <p:style>
          <a:lnRef idx="1">
            <a:schemeClr val="dk1"/>
          </a:lnRef>
          <a:fillRef idx="0">
            <a:schemeClr val="dk1"/>
          </a:fillRef>
          <a:effectRef idx="0">
            <a:schemeClr val="dk1"/>
          </a:effectRef>
          <a:fontRef idx="minor">
            <a:schemeClr val="tx1"/>
          </a:fontRef>
        </p:style>
      </p:cxnSp>
      <p:pic>
        <p:nvPicPr>
          <p:cNvPr id="7" name="Picture 6" descr="A graph of a purchase&#10;&#10;AI-generated content may be incorrect.">
            <a:extLst>
              <a:ext uri="{FF2B5EF4-FFF2-40B4-BE49-F238E27FC236}">
                <a16:creationId xmlns:a16="http://schemas.microsoft.com/office/drawing/2014/main" id="{6C736028-32E3-3288-28A7-FB9ED8243DCB}"/>
              </a:ext>
            </a:extLst>
          </p:cNvPr>
          <p:cNvPicPr>
            <a:picLocks noChangeAspect="1"/>
          </p:cNvPicPr>
          <p:nvPr/>
        </p:nvPicPr>
        <p:blipFill>
          <a:blip r:embed="rId2"/>
          <a:stretch>
            <a:fillRect/>
          </a:stretch>
        </p:blipFill>
        <p:spPr>
          <a:xfrm>
            <a:off x="471577" y="541943"/>
            <a:ext cx="5340107" cy="3046989"/>
          </a:xfrm>
          <a:prstGeom prst="rect">
            <a:avLst/>
          </a:prstGeom>
          <a:ln w="9525">
            <a:solidFill>
              <a:schemeClr val="tx1"/>
            </a:solidFill>
          </a:ln>
        </p:spPr>
      </p:pic>
      <p:pic>
        <p:nvPicPr>
          <p:cNvPr id="9" name="Picture 8" descr="A graph of positive and negative&#10;&#10;AI-generated content may be incorrect.">
            <a:extLst>
              <a:ext uri="{FF2B5EF4-FFF2-40B4-BE49-F238E27FC236}">
                <a16:creationId xmlns:a16="http://schemas.microsoft.com/office/drawing/2014/main" id="{70AEE78C-5D57-BB8E-3584-A87FAEABFBFB}"/>
              </a:ext>
            </a:extLst>
          </p:cNvPr>
          <p:cNvPicPr>
            <a:picLocks noChangeAspect="1"/>
          </p:cNvPicPr>
          <p:nvPr/>
        </p:nvPicPr>
        <p:blipFill>
          <a:blip r:embed="rId3"/>
          <a:stretch>
            <a:fillRect/>
          </a:stretch>
        </p:blipFill>
        <p:spPr>
          <a:xfrm>
            <a:off x="6613384" y="541943"/>
            <a:ext cx="5385827" cy="3046989"/>
          </a:xfrm>
          <a:prstGeom prst="rect">
            <a:avLst/>
          </a:prstGeom>
          <a:ln w="9525">
            <a:solidFill>
              <a:schemeClr val="tx1"/>
            </a:solidFill>
          </a:ln>
        </p:spPr>
      </p:pic>
      <p:sp>
        <p:nvSpPr>
          <p:cNvPr id="11" name="TextBox 10">
            <a:extLst>
              <a:ext uri="{FF2B5EF4-FFF2-40B4-BE49-F238E27FC236}">
                <a16:creationId xmlns:a16="http://schemas.microsoft.com/office/drawing/2014/main" id="{B2864C6D-77A6-9567-A289-EB9E7A0A117D}"/>
              </a:ext>
            </a:extLst>
          </p:cNvPr>
          <p:cNvSpPr txBox="1"/>
          <p:nvPr/>
        </p:nvSpPr>
        <p:spPr>
          <a:xfrm>
            <a:off x="6739603" y="3809950"/>
            <a:ext cx="5166900" cy="2723823"/>
          </a:xfrm>
          <a:prstGeom prst="rect">
            <a:avLst/>
          </a:prstGeom>
          <a:noFill/>
        </p:spPr>
        <p:txBody>
          <a:bodyPr wrap="square">
            <a:spAutoFit/>
          </a:bodyPr>
          <a:lstStyle/>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Positive sentiment dominates the dataset, with a significantly higher number of reviews compared to other categories.</a:t>
            </a:r>
          </a:p>
          <a:p>
            <a:pPr marL="171450" indent="-171450" algn="just">
              <a:buFont typeface="Arial" panose="020B0604020202020204" pitchFamily="34" charset="0"/>
              <a:buChar char="•"/>
            </a:pPr>
            <a:endParaRPr lang="en-US" sz="5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large gap between positive and negative sentiment indicates strong overall customer satisfaction.</a:t>
            </a:r>
          </a:p>
          <a:p>
            <a:pPr marL="171450" indent="-171450" algn="just">
              <a:buFont typeface="Arial" panose="020B0604020202020204" pitchFamily="34" charset="0"/>
              <a:buChar char="•"/>
            </a:pPr>
            <a:endParaRPr lang="en-US" sz="4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Negative sentiment is relatively low, suggesting fewer dissatisfied customers but still highlighting areas for improvement.</a:t>
            </a:r>
          </a:p>
          <a:p>
            <a:pPr algn="just"/>
            <a:endParaRPr lang="en-US" sz="5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Neutral sentiment is the least or moderately represented, showing that most customers have clear opinions rather than mixed feelings.</a:t>
            </a:r>
          </a:p>
          <a:p>
            <a:pPr marL="171450" indent="-171450" algn="just">
              <a:buFont typeface="Arial" panose="020B0604020202020204" pitchFamily="34" charset="0"/>
              <a:buChar char="•"/>
            </a:pPr>
            <a:endParaRPr lang="en-US" sz="6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distribution is highly skewed towards positive reviews, which can positively influence brand perception and sales.</a:t>
            </a:r>
          </a:p>
          <a:p>
            <a:pPr algn="just"/>
            <a:endParaRPr lang="en-US" sz="6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Despite fewer negative reviews, analyzing them can provide valuable insights into product issues and customer pain points.</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920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D6F392-7FE6-EA88-E225-BA28187E5AC7}"/>
              </a:ext>
            </a:extLst>
          </p:cNvPr>
          <p:cNvSpPr>
            <a:spLocks noGrp="1"/>
          </p:cNvSpPr>
          <p:nvPr>
            <p:ph type="sldNum" sz="quarter" idx="12"/>
          </p:nvPr>
        </p:nvSpPr>
        <p:spPr>
          <a:xfrm>
            <a:off x="11624475" y="6376155"/>
            <a:ext cx="458592" cy="365125"/>
          </a:xfrm>
        </p:spPr>
        <p:txBody>
          <a:bodyPr/>
          <a:lstStyle/>
          <a:p>
            <a:fld id="{FEFB1823-63EE-423F-9C0B-A09E9E56188F}" type="slidenum">
              <a:rPr lang="en-IN" smtClean="0"/>
              <a:t>9</a:t>
            </a:fld>
            <a:endParaRPr lang="en-IN" dirty="0"/>
          </a:p>
        </p:txBody>
      </p:sp>
      <p:sp>
        <p:nvSpPr>
          <p:cNvPr id="4" name="TextBox 3">
            <a:extLst>
              <a:ext uri="{FF2B5EF4-FFF2-40B4-BE49-F238E27FC236}">
                <a16:creationId xmlns:a16="http://schemas.microsoft.com/office/drawing/2014/main" id="{AB86BB56-DAA5-BF78-6466-5B77C96D3DB3}"/>
              </a:ext>
            </a:extLst>
          </p:cNvPr>
          <p:cNvSpPr txBox="1"/>
          <p:nvPr/>
        </p:nvSpPr>
        <p:spPr>
          <a:xfrm>
            <a:off x="20054" y="418819"/>
            <a:ext cx="7338995" cy="400110"/>
          </a:xfrm>
          <a:prstGeom prst="rect">
            <a:avLst/>
          </a:prstGeom>
        </p:spPr>
        <p:txBody>
          <a:bodyPr wrap="square" rtlCol="0">
            <a:spAutoFit/>
          </a:bodyPr>
          <a:lstStyle/>
          <a:p>
            <a:pPr marL="0" indent="0" algn="ctr">
              <a:lnSpc>
                <a:spcPct val="100000"/>
              </a:lnSpc>
              <a:spcBef>
                <a:spcPts val="0"/>
              </a:spcBef>
              <a:buFontTx/>
              <a:buNone/>
            </a:pPr>
            <a:r>
              <a:rPr lang="en-IN" sz="2000" dirty="0">
                <a:latin typeface="Posterama" panose="020B0504020200020000" pitchFamily="34" charset="0"/>
                <a:ea typeface="微软雅黑"/>
                <a:cs typeface="Posterama" panose="020B0504020200020000" pitchFamily="34" charset="0"/>
              </a:rPr>
              <a:t>Top Most Frequent Words</a:t>
            </a:r>
          </a:p>
        </p:txBody>
      </p:sp>
      <p:pic>
        <p:nvPicPr>
          <p:cNvPr id="8" name="Picture 7" descr="A graph of different colored bars&#10;&#10;AI-generated content may be incorrect.">
            <a:extLst>
              <a:ext uri="{FF2B5EF4-FFF2-40B4-BE49-F238E27FC236}">
                <a16:creationId xmlns:a16="http://schemas.microsoft.com/office/drawing/2014/main" id="{0F8596D5-E4A4-007B-E527-8C64C835D8CF}"/>
              </a:ext>
            </a:extLst>
          </p:cNvPr>
          <p:cNvPicPr>
            <a:picLocks noChangeAspect="1"/>
          </p:cNvPicPr>
          <p:nvPr/>
        </p:nvPicPr>
        <p:blipFill>
          <a:blip r:embed="rId2"/>
          <a:stretch>
            <a:fillRect/>
          </a:stretch>
        </p:blipFill>
        <p:spPr>
          <a:xfrm>
            <a:off x="102638" y="1342402"/>
            <a:ext cx="7027116" cy="4562865"/>
          </a:xfrm>
          <a:prstGeom prst="rect">
            <a:avLst/>
          </a:prstGeom>
          <a:ln w="9525">
            <a:solidFill>
              <a:schemeClr val="tx1"/>
            </a:solidFill>
          </a:ln>
        </p:spPr>
      </p:pic>
      <p:sp>
        <p:nvSpPr>
          <p:cNvPr id="10" name="TextBox 9">
            <a:extLst>
              <a:ext uri="{FF2B5EF4-FFF2-40B4-BE49-F238E27FC236}">
                <a16:creationId xmlns:a16="http://schemas.microsoft.com/office/drawing/2014/main" id="{F7631538-1A3C-7469-3525-66D7EB654DAF}"/>
              </a:ext>
            </a:extLst>
          </p:cNvPr>
          <p:cNvSpPr txBox="1"/>
          <p:nvPr/>
        </p:nvSpPr>
        <p:spPr>
          <a:xfrm>
            <a:off x="7359049" y="116720"/>
            <a:ext cx="4621457" cy="6370975"/>
          </a:xfrm>
          <a:prstGeom prst="rect">
            <a:avLst/>
          </a:prstGeom>
          <a:noFill/>
        </p:spPr>
        <p:txBody>
          <a:bodyPr wrap="square">
            <a:spAutoFit/>
          </a:bodyPr>
          <a:lstStyle/>
          <a:p>
            <a:pPr marL="285750" indent="-285750">
              <a:buFont typeface="Arial" panose="020B0604020202020204" pitchFamily="34" charset="0"/>
              <a:buChar char="•"/>
            </a:pPr>
            <a:r>
              <a:rPr lang="en-US" sz="1200" dirty="0"/>
              <a:t>The graph represents the most frequently occurring words in customer reviews, helping identify what users commonly talk about. This gives insight into both customer interests and product perception.</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 highest frequency words like “kindle” and “love” indicate that the product is widely discussed and strongly appreciated by users, reflecting a high level of engagement and satisfaction.</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Positive words such as “great”, “good”, “easy”, and “like” appear frequently, showing that customers are generally happy with the product’s performance, usability, and overall experience.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Words like “tablet”, “device”, “screen”, and “</a:t>
            </a:r>
            <a:r>
              <a:rPr lang="en-US" sz="1200" dirty="0" err="1"/>
              <a:t>hd</a:t>
            </a:r>
            <a:r>
              <a:rPr lang="en-US" sz="1200" dirty="0"/>
              <a:t>” highlight that customers focus on technical features and specifications, suggesting that product quality and functionality are key discussion points.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 presence of words such as “books” and “apps” indicates the primary use cases of the product, especially for reading and using applications, which aligns with the purpose of devices like Kindle.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Platform-related words like “amazon” suggest that some reviews also include feedback about the purchasing experience or brand trust.</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Overall, the graph shows that customer reviews are largely positive and feature-oriented, with very few negative or complaint-related words appearing frequently.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This supports the conclusion that the product has a strong market acceptance.</a:t>
            </a:r>
          </a:p>
        </p:txBody>
      </p:sp>
    </p:spTree>
    <p:extLst>
      <p:ext uri="{BB962C8B-B14F-4D97-AF65-F5344CB8AC3E}">
        <p14:creationId xmlns:p14="http://schemas.microsoft.com/office/powerpoint/2010/main" val="1215158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A65D-A712-86A5-832F-717937A08BFF}"/>
              </a:ext>
            </a:extLst>
          </p:cNvPr>
          <p:cNvSpPr>
            <a:spLocks noGrp="1"/>
          </p:cNvSpPr>
          <p:nvPr>
            <p:ph type="title"/>
          </p:nvPr>
        </p:nvSpPr>
        <p:spPr>
          <a:xfrm>
            <a:off x="5364150" y="445266"/>
            <a:ext cx="4279153" cy="461242"/>
          </a:xfrm>
        </p:spPr>
        <p:txBody>
          <a:bodyPr/>
          <a:lstStyle/>
          <a:p>
            <a:r>
              <a:rPr lang="en-IN" sz="3000" dirty="0">
                <a:latin typeface="Times New Roman" panose="02020603050405020304" pitchFamily="18" charset="0"/>
                <a:cs typeface="Times New Roman" panose="02020603050405020304" pitchFamily="18" charset="0"/>
              </a:rPr>
              <a:t>TRAIN – TEST SPLIT</a:t>
            </a:r>
          </a:p>
        </p:txBody>
      </p:sp>
      <p:sp>
        <p:nvSpPr>
          <p:cNvPr id="3" name="Text Placeholder 2">
            <a:extLst>
              <a:ext uri="{FF2B5EF4-FFF2-40B4-BE49-F238E27FC236}">
                <a16:creationId xmlns:a16="http://schemas.microsoft.com/office/drawing/2014/main" id="{218EA6CA-EA86-3ED2-90B9-629867C47170}"/>
              </a:ext>
            </a:extLst>
          </p:cNvPr>
          <p:cNvSpPr>
            <a:spLocks noGrp="1"/>
          </p:cNvSpPr>
          <p:nvPr>
            <p:ph type="body" sz="quarter" idx="29"/>
          </p:nvPr>
        </p:nvSpPr>
        <p:spPr>
          <a:xfrm>
            <a:off x="5434245" y="1174994"/>
            <a:ext cx="6155497" cy="1326159"/>
          </a:xfrm>
        </p:spPr>
        <p:txBody>
          <a:bodyPr/>
          <a:lstStyle/>
          <a:p>
            <a:pPr marL="342900" indent="-342900">
              <a:buFont typeface="Courier New" panose="02070309020205020404" pitchFamily="49" charset="0"/>
              <a:buChar char="o"/>
            </a:pPr>
            <a:r>
              <a:rPr lang="en-US" sz="1600" dirty="0">
                <a:solidFill>
                  <a:schemeClr val="tx1"/>
                </a:solidFill>
                <a:latin typeface="Times New Roman" panose="02020603050405020304" pitchFamily="18" charset="0"/>
                <a:cs typeface="Times New Roman" panose="02020603050405020304" pitchFamily="18" charset="0"/>
              </a:rPr>
              <a:t>We divided the data into training (80%) and testing (20%) sets.</a:t>
            </a:r>
          </a:p>
          <a:p>
            <a:pPr marL="342900" indent="-342900">
              <a:buFont typeface="Courier New" panose="02070309020205020404" pitchFamily="49" charset="0"/>
              <a:buChar char="o"/>
            </a:pPr>
            <a:endParaRPr lang="en-US" sz="100" dirty="0">
              <a:solidFill>
                <a:schemeClr val="tx1"/>
              </a:solidFill>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1600" dirty="0">
                <a:solidFill>
                  <a:schemeClr val="tx1"/>
                </a:solidFill>
                <a:latin typeface="Times New Roman" panose="02020603050405020304" pitchFamily="18" charset="0"/>
                <a:cs typeface="Times New Roman" panose="02020603050405020304" pitchFamily="18" charset="0"/>
              </a:rPr>
              <a:t>Setting a random state ensures consistent results and using stratify=y maintains a proportional distribution of the target variable in both sets.</a:t>
            </a:r>
          </a:p>
        </p:txBody>
      </p:sp>
      <p:sp>
        <p:nvSpPr>
          <p:cNvPr id="5" name="Slide Number Placeholder 4">
            <a:extLst>
              <a:ext uri="{FF2B5EF4-FFF2-40B4-BE49-F238E27FC236}">
                <a16:creationId xmlns:a16="http://schemas.microsoft.com/office/drawing/2014/main" id="{80868468-7613-5AAA-9CA2-4522101E15E2}"/>
              </a:ext>
            </a:extLst>
          </p:cNvPr>
          <p:cNvSpPr>
            <a:spLocks noGrp="1"/>
          </p:cNvSpPr>
          <p:nvPr>
            <p:ph type="sldNum" sz="quarter" idx="31"/>
          </p:nvPr>
        </p:nvSpPr>
        <p:spPr>
          <a:xfrm>
            <a:off x="11589742" y="6384980"/>
            <a:ext cx="458592" cy="365125"/>
          </a:xfrm>
        </p:spPr>
        <p:txBody>
          <a:bodyPr/>
          <a:lstStyle/>
          <a:p>
            <a:fld id="{47FEACEE-25B4-4A2D-B147-27296E36371D}" type="slidenum">
              <a:rPr lang="en-US" altLang="zh-CN" noProof="0" smtClean="0"/>
              <a:pPr/>
              <a:t>10</a:t>
            </a:fld>
            <a:endParaRPr lang="en-US" altLang="zh-CN" noProof="0" dirty="0"/>
          </a:p>
        </p:txBody>
      </p:sp>
      <p:sp>
        <p:nvSpPr>
          <p:cNvPr id="6" name="Title 1">
            <a:extLst>
              <a:ext uri="{FF2B5EF4-FFF2-40B4-BE49-F238E27FC236}">
                <a16:creationId xmlns:a16="http://schemas.microsoft.com/office/drawing/2014/main" id="{97C498D9-BD60-4C6A-47BA-78269E242642}"/>
              </a:ext>
            </a:extLst>
          </p:cNvPr>
          <p:cNvSpPr txBox="1">
            <a:spLocks/>
          </p:cNvSpPr>
          <p:nvPr/>
        </p:nvSpPr>
        <p:spPr>
          <a:xfrm>
            <a:off x="5434245" y="3038010"/>
            <a:ext cx="6854474" cy="6943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700" b="1" kern="1200">
                <a:solidFill>
                  <a:schemeClr val="accent6"/>
                </a:solidFill>
                <a:latin typeface="+mn-lt"/>
                <a:ea typeface="+mj-ea"/>
                <a:cs typeface="+mj-cs"/>
              </a:defRPr>
            </a:lvl1pPr>
          </a:lstStyle>
          <a:p>
            <a:r>
              <a:rPr lang="en-IN" sz="3000" dirty="0">
                <a:latin typeface="Times New Roman" panose="02020603050405020304" pitchFamily="18" charset="0"/>
                <a:cs typeface="Times New Roman" panose="02020603050405020304" pitchFamily="18" charset="0"/>
              </a:rPr>
              <a:t>SPLITING THE DATA INTO X &amp; Y</a:t>
            </a:r>
          </a:p>
        </p:txBody>
      </p:sp>
      <p:sp>
        <p:nvSpPr>
          <p:cNvPr id="8" name="TextBox 7">
            <a:extLst>
              <a:ext uri="{FF2B5EF4-FFF2-40B4-BE49-F238E27FC236}">
                <a16:creationId xmlns:a16="http://schemas.microsoft.com/office/drawing/2014/main" id="{9E6FC98E-B56B-A1D1-19C5-CE9577B5F5E3}"/>
              </a:ext>
            </a:extLst>
          </p:cNvPr>
          <p:cNvSpPr txBox="1"/>
          <p:nvPr/>
        </p:nvSpPr>
        <p:spPr>
          <a:xfrm>
            <a:off x="5434245" y="4092867"/>
            <a:ext cx="6155497"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prstClr val="black"/>
                </a:solidFill>
                <a:latin typeface="Times New Roman" panose="02020603050405020304" pitchFamily="18" charset="0"/>
                <a:cs typeface="Times New Roman" panose="02020603050405020304" pitchFamily="18" charset="0"/>
              </a:rPr>
              <a:t>We divided the dataset into two parts: X and y.</a:t>
            </a:r>
          </a:p>
          <a:p>
            <a:pPr marL="285750" indent="-285750">
              <a:buFont typeface="Courier New" panose="02070309020205020404" pitchFamily="49" charset="0"/>
              <a:buChar char="o"/>
            </a:pPr>
            <a:endParaRPr lang="en-US" dirty="0">
              <a:solidFill>
                <a:prstClr val="black"/>
              </a:solidFill>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dirty="0">
                <a:solidFill>
                  <a:prstClr val="black"/>
                </a:solidFill>
                <a:latin typeface="Times New Roman" panose="02020603050405020304" pitchFamily="18" charset="0"/>
                <a:cs typeface="Times New Roman" panose="02020603050405020304" pitchFamily="18" charset="0"/>
              </a:rPr>
              <a:t>"</a:t>
            </a:r>
            <a:r>
              <a:rPr lang="en-US" b="1" dirty="0">
                <a:solidFill>
                  <a:prstClr val="black"/>
                </a:solidFill>
                <a:latin typeface="Times New Roman" panose="02020603050405020304" pitchFamily="18" charset="0"/>
                <a:cs typeface="Times New Roman" panose="02020603050405020304" pitchFamily="18" charset="0"/>
              </a:rPr>
              <a:t>X</a:t>
            </a:r>
            <a:r>
              <a:rPr lang="en-US" dirty="0">
                <a:solidFill>
                  <a:prstClr val="black"/>
                </a:solidFill>
                <a:latin typeface="Times New Roman" panose="02020603050405020304" pitchFamily="18" charset="0"/>
                <a:cs typeface="Times New Roman" panose="02020603050405020304" pitchFamily="18" charset="0"/>
              </a:rPr>
              <a:t>" typically represents the </a:t>
            </a:r>
            <a:r>
              <a:rPr lang="en-US" b="1" dirty="0">
                <a:solidFill>
                  <a:prstClr val="black"/>
                </a:solidFill>
                <a:latin typeface="Times New Roman" panose="02020603050405020304" pitchFamily="18" charset="0"/>
                <a:cs typeface="Times New Roman" panose="02020603050405020304" pitchFamily="18" charset="0"/>
              </a:rPr>
              <a:t>independent</a:t>
            </a:r>
            <a:r>
              <a:rPr lang="en-US" dirty="0">
                <a:solidFill>
                  <a:prstClr val="black"/>
                </a:solidFill>
                <a:latin typeface="Times New Roman" panose="02020603050405020304" pitchFamily="18" charset="0"/>
                <a:cs typeface="Times New Roman" panose="02020603050405020304" pitchFamily="18" charset="0"/>
              </a:rPr>
              <a:t> Variables, and "</a:t>
            </a:r>
            <a:r>
              <a:rPr lang="en-US" b="1" dirty="0">
                <a:solidFill>
                  <a:prstClr val="black"/>
                </a:solidFill>
                <a:latin typeface="Times New Roman" panose="02020603050405020304" pitchFamily="18" charset="0"/>
                <a:cs typeface="Times New Roman" panose="02020603050405020304" pitchFamily="18" charset="0"/>
              </a:rPr>
              <a:t>y</a:t>
            </a:r>
            <a:r>
              <a:rPr lang="en-US" dirty="0">
                <a:solidFill>
                  <a:prstClr val="black"/>
                </a:solidFill>
                <a:latin typeface="Times New Roman" panose="02020603050405020304" pitchFamily="18" charset="0"/>
                <a:cs typeface="Times New Roman" panose="02020603050405020304" pitchFamily="18" charset="0"/>
              </a:rPr>
              <a:t>" represents the </a:t>
            </a:r>
            <a:r>
              <a:rPr lang="en-US" b="1" dirty="0">
                <a:solidFill>
                  <a:prstClr val="black"/>
                </a:solidFill>
                <a:latin typeface="Times New Roman" panose="02020603050405020304" pitchFamily="18" charset="0"/>
                <a:cs typeface="Times New Roman" panose="02020603050405020304" pitchFamily="18" charset="0"/>
              </a:rPr>
              <a:t>Dependent</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target</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variable</a:t>
            </a:r>
            <a:r>
              <a:rPr lang="en-US" dirty="0">
                <a:solidFill>
                  <a:prstClr val="black"/>
                </a:solidFill>
                <a:latin typeface="Times New Roman" panose="02020603050405020304" pitchFamily="18" charset="0"/>
                <a:cs typeface="Times New Roman" panose="02020603050405020304" pitchFamily="18" charset="0"/>
              </a:rPr>
              <a:t>) that we want to predict or understand.</a:t>
            </a:r>
            <a:endParaRPr lang="en-IN" dirty="0">
              <a:solidFill>
                <a:prstClr val="black"/>
              </a:solidFill>
              <a:latin typeface="Times New Roman" panose="02020603050405020304" pitchFamily="18" charset="0"/>
              <a:cs typeface="Times New Roman" panose="02020603050405020304" pitchFamily="18" charset="0"/>
            </a:endParaRPr>
          </a:p>
        </p:txBody>
      </p:sp>
      <p:sp>
        <p:nvSpPr>
          <p:cNvPr id="4" name="Footer Placeholder 7">
            <a:extLst>
              <a:ext uri="{FF2B5EF4-FFF2-40B4-BE49-F238E27FC236}">
                <a16:creationId xmlns:a16="http://schemas.microsoft.com/office/drawing/2014/main" id="{087A2CF9-1A02-F89A-BABD-DD098097CA84}"/>
              </a:ext>
            </a:extLst>
          </p:cNvPr>
          <p:cNvSpPr txBox="1">
            <a:spLocks/>
          </p:cNvSpPr>
          <p:nvPr/>
        </p:nvSpPr>
        <p:spPr>
          <a:xfrm>
            <a:off x="152938" y="6388089"/>
            <a:ext cx="411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Network Traffic Network</a:t>
            </a:r>
          </a:p>
        </p:txBody>
      </p:sp>
    </p:spTree>
    <p:extLst>
      <p:ext uri="{BB962C8B-B14F-4D97-AF65-F5344CB8AC3E}">
        <p14:creationId xmlns:p14="http://schemas.microsoft.com/office/powerpoint/2010/main" val="3680615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F4A1B2-BF27-E27B-FE88-F576981D1E25}"/>
              </a:ext>
            </a:extLst>
          </p:cNvPr>
          <p:cNvSpPr>
            <a:spLocks noGrp="1"/>
          </p:cNvSpPr>
          <p:nvPr>
            <p:ph type="body" sz="quarter" idx="32"/>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pPr algn="just">
              <a:spcBef>
                <a:spcPts val="1000"/>
              </a:spcBef>
              <a:buFontTx/>
            </a:pPr>
            <a:r>
              <a:rPr lang="en-US" sz="1100" dirty="0">
                <a:solidFill>
                  <a:schemeClr val="tx1"/>
                </a:solidFill>
                <a:latin typeface="Times New Roman" panose="02020603050405020304" pitchFamily="18" charset="0"/>
                <a:cs typeface="Times New Roman" panose="02020603050405020304" pitchFamily="18" charset="0"/>
              </a:rPr>
              <a:t>Logistic Regression is a statistical method used for binary classification. It is valued for its simplicity and effectiveness in modeling the relationship between input variables and the probability of a specific outcome.</a:t>
            </a:r>
          </a:p>
          <a:p>
            <a:pPr algn="just">
              <a:spcBef>
                <a:spcPts val="1000"/>
              </a:spcBef>
              <a:buFontTx/>
            </a:pP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8A75374-ED4A-606A-7B89-D3564CC437E0}"/>
              </a:ext>
            </a:extLst>
          </p:cNvPr>
          <p:cNvSpPr>
            <a:spLocks noGrp="1"/>
          </p:cNvSpPr>
          <p:nvPr>
            <p:ph type="body" sz="quarter" idx="50"/>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pPr algn="just">
              <a:spcBef>
                <a:spcPts val="1000"/>
              </a:spcBef>
              <a:buFontTx/>
            </a:pPr>
            <a:r>
              <a:rPr lang="en-US" sz="1100" dirty="0">
                <a:solidFill>
                  <a:schemeClr val="tx1"/>
                </a:solidFill>
                <a:latin typeface="Times New Roman" panose="02020603050405020304" pitchFamily="18" charset="0"/>
                <a:cs typeface="Times New Roman" panose="02020603050405020304" pitchFamily="18" charset="0"/>
              </a:rPr>
              <a:t>Support Vector Machine (SVM) is a supervised machine learning algorithm used for both classification and regression tasks. It works by finding the optimal hyperplane that separates data points into different classes with the maximum possible margin. </a:t>
            </a:r>
          </a:p>
        </p:txBody>
      </p:sp>
      <p:sp>
        <p:nvSpPr>
          <p:cNvPr id="4" name="Text Placeholder 3">
            <a:extLst>
              <a:ext uri="{FF2B5EF4-FFF2-40B4-BE49-F238E27FC236}">
                <a16:creationId xmlns:a16="http://schemas.microsoft.com/office/drawing/2014/main" id="{94154E3A-0EF2-4776-359E-A78B583A94AF}"/>
              </a:ext>
            </a:extLst>
          </p:cNvPr>
          <p:cNvSpPr>
            <a:spLocks noGrp="1"/>
          </p:cNvSpPr>
          <p:nvPr>
            <p:ph type="body" sz="quarter" idx="51"/>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algn="just">
              <a:spcBef>
                <a:spcPts val="1000"/>
              </a:spcBef>
              <a:buFontTx/>
            </a:pPr>
            <a:endParaRPr lang="en-US" sz="1600" dirty="0">
              <a:solidFill>
                <a:schemeClr val="tx1"/>
              </a:solidFill>
              <a:latin typeface="Times New Roman" panose="02020603050405020304" pitchFamily="18" charset="0"/>
              <a:cs typeface="Times New Roman" panose="02020603050405020304" pitchFamily="18" charset="0"/>
            </a:endParaRPr>
          </a:p>
          <a:p>
            <a:pPr algn="just">
              <a:spcBef>
                <a:spcPts val="1000"/>
              </a:spcBef>
              <a:buFontTx/>
            </a:pPr>
            <a:r>
              <a:rPr lang="en-US" sz="1100" dirty="0">
                <a:solidFill>
                  <a:schemeClr val="tx1"/>
                </a:solidFill>
                <a:latin typeface="Times New Roman" panose="02020603050405020304" pitchFamily="18" charset="0"/>
                <a:cs typeface="Times New Roman" panose="02020603050405020304" pitchFamily="18" charset="0"/>
              </a:rPr>
              <a:t>Extra Trees (Extremely Randomized Trees) is an ensemble machine learning algorithm based on decision trees. It is used for both classification and regression tasks and is known for its speed and accuracy.</a:t>
            </a:r>
            <a:endParaRPr lang="en-IN" sz="3070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BAE1E73B-DEA7-B633-5F15-15A55E4C1B11}"/>
              </a:ext>
            </a:extLst>
          </p:cNvPr>
          <p:cNvSpPr>
            <a:spLocks noGrp="1"/>
          </p:cNvSpPr>
          <p:nvPr>
            <p:ph type="body" sz="quarter" idx="52"/>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marL="0" marR="0" lvl="0" indent="0" algn="just" defTabSz="914400" rtl="0" eaLnBrk="1" fontAlgn="auto" latinLnBrk="0" hangingPunct="1">
              <a:lnSpc>
                <a:spcPct val="100000"/>
              </a:lnSpc>
              <a:spcBef>
                <a:spcPts val="100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10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Naive Bayes is a supervised machine learning algorithm based on Bayes’ Theorem, used mainly for classification tasks. It assumes that all features are independent of each other (hence the term “naive”), even though this may not always be true in real-world data.</a:t>
            </a:r>
          </a:p>
        </p:txBody>
      </p:sp>
      <p:sp>
        <p:nvSpPr>
          <p:cNvPr id="6" name="Text Placeholder 5">
            <a:extLst>
              <a:ext uri="{FF2B5EF4-FFF2-40B4-BE49-F238E27FC236}">
                <a16:creationId xmlns:a16="http://schemas.microsoft.com/office/drawing/2014/main" id="{EE447F6B-6451-BDFB-1AF1-BAB626BD5F90}"/>
              </a:ext>
            </a:extLst>
          </p:cNvPr>
          <p:cNvSpPr>
            <a:spLocks noGrp="1"/>
          </p:cNvSpPr>
          <p:nvPr>
            <p:ph type="body" sz="quarter" idx="53"/>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Autofit/>
          </a:bodyPr>
          <a:lstStyle/>
          <a:p>
            <a:pPr algn="just">
              <a:spcBef>
                <a:spcPts val="1000"/>
              </a:spcBef>
              <a:buFontTx/>
            </a:pPr>
            <a:endParaRPr lang="en-US" sz="1100" dirty="0">
              <a:solidFill>
                <a:schemeClr val="tx1"/>
              </a:solidFill>
              <a:latin typeface="Times New Roman" panose="02020603050405020304" pitchFamily="18" charset="0"/>
              <a:cs typeface="Times New Roman" panose="02020603050405020304" pitchFamily="18" charset="0"/>
            </a:endParaRPr>
          </a:p>
          <a:p>
            <a:pPr algn="just">
              <a:spcBef>
                <a:spcPts val="1000"/>
              </a:spcBef>
              <a:buFontTx/>
            </a:pPr>
            <a:r>
              <a:rPr lang="en-US" sz="1100" dirty="0" err="1">
                <a:solidFill>
                  <a:schemeClr val="tx1"/>
                </a:solidFill>
                <a:latin typeface="Times New Roman" panose="02020603050405020304" pitchFamily="18" charset="0"/>
                <a:cs typeface="Times New Roman" panose="02020603050405020304" pitchFamily="18" charset="0"/>
              </a:rPr>
              <a:t>LightGBM</a:t>
            </a:r>
            <a:r>
              <a:rPr lang="en-US" sz="1100" dirty="0">
                <a:solidFill>
                  <a:schemeClr val="tx1"/>
                </a:solidFill>
                <a:latin typeface="Times New Roman" panose="02020603050405020304" pitchFamily="18" charset="0"/>
                <a:cs typeface="Times New Roman" panose="02020603050405020304" pitchFamily="18" charset="0"/>
              </a:rPr>
              <a:t> (Light Gradient Boosting Machine) is an advanced machine learning algorithm based on gradient boosting. It is designed for speed and efficiency, making it ideal for handling large datasets with high-dimensional features.</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63DEF70B-4BD3-B45F-4676-9DAE8160D846}"/>
              </a:ext>
            </a:extLst>
          </p:cNvPr>
          <p:cNvSpPr>
            <a:spLocks noGrp="1"/>
          </p:cNvSpPr>
          <p:nvPr>
            <p:ph type="body" sz="quarter" idx="27"/>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700" dirty="0">
                <a:solidFill>
                  <a:schemeClr val="tx1"/>
                </a:solidFill>
                <a:latin typeface="Times New Roman" panose="02020603050405020304" pitchFamily="18" charset="0"/>
                <a:cs typeface="Times New Roman" panose="02020603050405020304" pitchFamily="18" charset="0"/>
              </a:rPr>
              <a:t>Logistic Regression</a:t>
            </a:r>
          </a:p>
        </p:txBody>
      </p:sp>
      <p:graphicFrame>
        <p:nvGraphicFramePr>
          <p:cNvPr id="13" name="Diagram 12">
            <a:extLst>
              <a:ext uri="{FF2B5EF4-FFF2-40B4-BE49-F238E27FC236}">
                <a16:creationId xmlns:a16="http://schemas.microsoft.com/office/drawing/2014/main" id="{40553155-36D5-2313-C3BD-B7FB9A4ED7F7}"/>
              </a:ext>
            </a:extLst>
          </p:cNvPr>
          <p:cNvGraphicFramePr/>
          <p:nvPr>
            <p:extLst>
              <p:ext uri="{D42A27DB-BD31-4B8C-83A1-F6EECF244321}">
                <p14:modId xmlns:p14="http://schemas.microsoft.com/office/powerpoint/2010/main" val="3736096746"/>
              </p:ext>
            </p:extLst>
          </p:nvPr>
        </p:nvGraphicFramePr>
        <p:xfrm>
          <a:off x="838200" y="373301"/>
          <a:ext cx="10515600" cy="10011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 Placeholder 8">
            <a:extLst>
              <a:ext uri="{FF2B5EF4-FFF2-40B4-BE49-F238E27FC236}">
                <a16:creationId xmlns:a16="http://schemas.microsoft.com/office/drawing/2014/main" id="{57F5F245-FF27-38CC-9B7C-EBCC4A582A87}"/>
              </a:ext>
            </a:extLst>
          </p:cNvPr>
          <p:cNvSpPr>
            <a:spLocks noGrp="1"/>
          </p:cNvSpPr>
          <p:nvPr>
            <p:ph type="body" sz="quarter" idx="46"/>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sz="1700" dirty="0">
                <a:solidFill>
                  <a:schemeClr val="tx1"/>
                </a:solidFill>
                <a:latin typeface="Times New Roman" panose="02020603050405020304" pitchFamily="18" charset="0"/>
                <a:cs typeface="Times New Roman" panose="02020603050405020304" pitchFamily="18" charset="0"/>
              </a:rPr>
              <a:t>SVM</a:t>
            </a:r>
          </a:p>
        </p:txBody>
      </p:sp>
      <p:sp>
        <p:nvSpPr>
          <p:cNvPr id="10" name="Text Placeholder 9">
            <a:extLst>
              <a:ext uri="{FF2B5EF4-FFF2-40B4-BE49-F238E27FC236}">
                <a16:creationId xmlns:a16="http://schemas.microsoft.com/office/drawing/2014/main" id="{7924F743-E125-0212-01E9-77661716BBCB}"/>
              </a:ext>
            </a:extLst>
          </p:cNvPr>
          <p:cNvSpPr>
            <a:spLocks noGrp="1"/>
          </p:cNvSpPr>
          <p:nvPr>
            <p:ph type="body" sz="quarter" idx="47"/>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IN" sz="1700" dirty="0">
                <a:solidFill>
                  <a:schemeClr val="tx1"/>
                </a:solidFill>
                <a:latin typeface="Times New Roman" panose="02020603050405020304" pitchFamily="18" charset="0"/>
                <a:cs typeface="Times New Roman" panose="02020603050405020304" pitchFamily="18" charset="0"/>
              </a:rPr>
              <a:t>Extra Tree</a:t>
            </a:r>
          </a:p>
        </p:txBody>
      </p:sp>
      <p:sp>
        <p:nvSpPr>
          <p:cNvPr id="11" name="Text Placeholder 10">
            <a:extLst>
              <a:ext uri="{FF2B5EF4-FFF2-40B4-BE49-F238E27FC236}">
                <a16:creationId xmlns:a16="http://schemas.microsoft.com/office/drawing/2014/main" id="{86B545CE-1F9B-CF21-0C12-82D46CB9C6A3}"/>
              </a:ext>
            </a:extLst>
          </p:cNvPr>
          <p:cNvSpPr>
            <a:spLocks noGrp="1"/>
          </p:cNvSpPr>
          <p:nvPr>
            <p:ph type="body" sz="quarter" idx="48"/>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US" sz="1700" dirty="0">
                <a:solidFill>
                  <a:schemeClr val="tx1"/>
                </a:solidFill>
                <a:latin typeface="Times New Roman" panose="02020603050405020304" pitchFamily="18" charset="0"/>
                <a:cs typeface="Times New Roman" panose="02020603050405020304" pitchFamily="18" charset="0"/>
              </a:rPr>
              <a:t> Naive Bayes</a:t>
            </a:r>
            <a:endParaRPr lang="en-IN" sz="1700" dirty="0">
              <a:solidFill>
                <a:schemeClr val="tx1"/>
              </a:solidFill>
              <a:latin typeface="Times New Roman" panose="02020603050405020304" pitchFamily="18"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51B3E262-AB4F-647C-D741-09F4F82E1A09}"/>
              </a:ext>
            </a:extLst>
          </p:cNvPr>
          <p:cNvSpPr>
            <a:spLocks noGrp="1"/>
          </p:cNvSpPr>
          <p:nvPr>
            <p:ph type="body" sz="quarter" idx="49"/>
          </p:nvPr>
        </p:nvSpPr>
        <p:spPr>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p>
            <a:r>
              <a:rPr lang="en-US" sz="1700" dirty="0" err="1">
                <a:solidFill>
                  <a:schemeClr val="tx1"/>
                </a:solidFill>
                <a:latin typeface="Times New Roman" panose="02020603050405020304" pitchFamily="18" charset="0"/>
                <a:cs typeface="Times New Roman" panose="02020603050405020304" pitchFamily="18" charset="0"/>
              </a:rPr>
              <a:t>LightGBM</a:t>
            </a:r>
            <a:endParaRPr lang="en-IN" sz="1700" dirty="0">
              <a:solidFill>
                <a:schemeClr val="tx1"/>
              </a:solidFill>
              <a:latin typeface="Times New Roman" panose="02020603050405020304" pitchFamily="18" charset="0"/>
              <a:cs typeface="Times New Roman" panose="02020603050405020304" pitchFamily="18" charset="0"/>
            </a:endParaRPr>
          </a:p>
        </p:txBody>
      </p:sp>
      <p:sp>
        <p:nvSpPr>
          <p:cNvPr id="14" name="Slide Number Placeholder 13">
            <a:extLst>
              <a:ext uri="{FF2B5EF4-FFF2-40B4-BE49-F238E27FC236}">
                <a16:creationId xmlns:a16="http://schemas.microsoft.com/office/drawing/2014/main" id="{D338FB20-51E0-8F39-B816-BC094FCF5B0B}"/>
              </a:ext>
            </a:extLst>
          </p:cNvPr>
          <p:cNvSpPr>
            <a:spLocks noGrp="1"/>
          </p:cNvSpPr>
          <p:nvPr>
            <p:ph type="sldNum" sz="quarter" idx="55"/>
          </p:nvPr>
        </p:nvSpPr>
        <p:spPr>
          <a:xfrm>
            <a:off x="11612814" y="6397905"/>
            <a:ext cx="458592" cy="365126"/>
          </a:xfrm>
        </p:spPr>
        <p:txBody>
          <a:bodyPr/>
          <a:lstStyle/>
          <a:p>
            <a:fld id="{47FEACEE-25B4-4A2D-B147-27296E36371D}" type="slidenum">
              <a:rPr lang="en-US" altLang="zh-CN" noProof="0" smtClean="0"/>
              <a:pPr/>
              <a:t>11</a:t>
            </a:fld>
            <a:endParaRPr lang="en-US" altLang="zh-CN" noProof="0" dirty="0"/>
          </a:p>
        </p:txBody>
      </p:sp>
      <p:sp>
        <p:nvSpPr>
          <p:cNvPr id="15" name="TextBox 14">
            <a:extLst>
              <a:ext uri="{FF2B5EF4-FFF2-40B4-BE49-F238E27FC236}">
                <a16:creationId xmlns:a16="http://schemas.microsoft.com/office/drawing/2014/main" id="{B5305C5F-0469-1868-D59C-5674B4DF1893}"/>
              </a:ext>
            </a:extLst>
          </p:cNvPr>
          <p:cNvSpPr txBox="1"/>
          <p:nvPr/>
        </p:nvSpPr>
        <p:spPr>
          <a:xfrm>
            <a:off x="454787" y="5747202"/>
            <a:ext cx="11282426" cy="307777"/>
          </a:xfrm>
          <a:prstGeom prst="rect">
            <a:avLst/>
          </a:prstGeom>
          <a:solidFill>
            <a:schemeClr val="accent4">
              <a:lumMod val="60000"/>
              <a:lumOff val="40000"/>
            </a:schemeClr>
          </a:solidFill>
        </p:spPr>
        <p:txBody>
          <a:bodyPr wrap="square">
            <a:spAutoFit/>
          </a:bodyPr>
          <a:lstStyle>
            <a:defPPr>
              <a:defRPr lang="en-US"/>
            </a:defPPr>
            <a:lvl1pPr>
              <a:defRPr sz="1400" b="1"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b="0" dirty="0">
                <a:solidFill>
                  <a:schemeClr val="tx1"/>
                </a:solidFill>
                <a:latin typeface="Times New Roman" panose="02020603050405020304" pitchFamily="18" charset="0"/>
                <a:cs typeface="Times New Roman" panose="02020603050405020304" pitchFamily="18" charset="0"/>
              </a:rPr>
              <a:t>Note : -   In machine learning, there are many models, but I have chosen the best model that is most suitable for this dataset to ensure optimal performance.</a:t>
            </a:r>
          </a:p>
        </p:txBody>
      </p:sp>
      <p:sp>
        <p:nvSpPr>
          <p:cNvPr id="16" name="Footer Placeholder 7">
            <a:extLst>
              <a:ext uri="{FF2B5EF4-FFF2-40B4-BE49-F238E27FC236}">
                <a16:creationId xmlns:a16="http://schemas.microsoft.com/office/drawing/2014/main" id="{AC47F278-8D4B-C5AA-915F-CCF6DD069FCB}"/>
              </a:ext>
            </a:extLst>
          </p:cNvPr>
          <p:cNvSpPr txBox="1">
            <a:spLocks/>
          </p:cNvSpPr>
          <p:nvPr/>
        </p:nvSpPr>
        <p:spPr>
          <a:xfrm>
            <a:off x="152938" y="6459809"/>
            <a:ext cx="411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Network Traffic Flow</a:t>
            </a:r>
          </a:p>
        </p:txBody>
      </p:sp>
    </p:spTree>
    <p:extLst>
      <p:ext uri="{BB962C8B-B14F-4D97-AF65-F5344CB8AC3E}">
        <p14:creationId xmlns:p14="http://schemas.microsoft.com/office/powerpoint/2010/main" val="2522050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4642-603D-DA8D-C6DE-37F2BAA74B78}"/>
              </a:ext>
            </a:extLst>
          </p:cNvPr>
          <p:cNvSpPr>
            <a:spLocks noGrp="1"/>
          </p:cNvSpPr>
          <p:nvPr>
            <p:ph type="title"/>
          </p:nvPr>
        </p:nvSpPr>
        <p:spPr>
          <a:xfrm>
            <a:off x="762965" y="158930"/>
            <a:ext cx="10889796" cy="735518"/>
          </a:xfrm>
        </p:spPr>
        <p:txBody>
          <a:bodyPr/>
          <a:lstStyle/>
          <a:p>
            <a:pPr algn="ctr"/>
            <a:r>
              <a:rPr lang="en-IN" sz="3200" dirty="0">
                <a:latin typeface="Times New Roman" panose="02020603050405020304" pitchFamily="18" charset="0"/>
                <a:cs typeface="Times New Roman" panose="02020603050405020304" pitchFamily="18" charset="0"/>
              </a:rPr>
              <a:t>Model Evaluation</a:t>
            </a:r>
          </a:p>
        </p:txBody>
      </p:sp>
      <p:sp>
        <p:nvSpPr>
          <p:cNvPr id="5" name="Slide Number Placeholder 4">
            <a:extLst>
              <a:ext uri="{FF2B5EF4-FFF2-40B4-BE49-F238E27FC236}">
                <a16:creationId xmlns:a16="http://schemas.microsoft.com/office/drawing/2014/main" id="{DDAB09FB-2B17-F370-2634-0277522686C2}"/>
              </a:ext>
            </a:extLst>
          </p:cNvPr>
          <p:cNvSpPr>
            <a:spLocks noGrp="1"/>
          </p:cNvSpPr>
          <p:nvPr>
            <p:ph type="sldNum" sz="quarter" idx="29"/>
          </p:nvPr>
        </p:nvSpPr>
        <p:spPr>
          <a:xfrm>
            <a:off x="11652761" y="6471620"/>
            <a:ext cx="458592" cy="365125"/>
          </a:xfrm>
        </p:spPr>
        <p:txBody>
          <a:bodyPr/>
          <a:lstStyle/>
          <a:p>
            <a:fld id="{47FEACEE-25B4-4A2D-B147-27296E36371D}" type="slidenum">
              <a:rPr lang="en-US" altLang="zh-CN" smtClean="0"/>
              <a:pPr/>
              <a:t>12</a:t>
            </a:fld>
            <a:endParaRPr lang="en-US" altLang="zh-CN" dirty="0"/>
          </a:p>
        </p:txBody>
      </p:sp>
      <p:graphicFrame>
        <p:nvGraphicFramePr>
          <p:cNvPr id="9" name="Table 8">
            <a:extLst>
              <a:ext uri="{FF2B5EF4-FFF2-40B4-BE49-F238E27FC236}">
                <a16:creationId xmlns:a16="http://schemas.microsoft.com/office/drawing/2014/main" id="{0E4A40E5-786D-B7DD-9555-17CD09121711}"/>
              </a:ext>
            </a:extLst>
          </p:cNvPr>
          <p:cNvGraphicFramePr>
            <a:graphicFrameLocks noGrp="1"/>
          </p:cNvGraphicFramePr>
          <p:nvPr>
            <p:extLst>
              <p:ext uri="{D42A27DB-BD31-4B8C-83A1-F6EECF244321}">
                <p14:modId xmlns:p14="http://schemas.microsoft.com/office/powerpoint/2010/main" val="593564720"/>
              </p:ext>
            </p:extLst>
          </p:nvPr>
        </p:nvGraphicFramePr>
        <p:xfrm>
          <a:off x="435339" y="1100683"/>
          <a:ext cx="6772285" cy="2623736"/>
        </p:xfrm>
        <a:graphic>
          <a:graphicData uri="http://schemas.openxmlformats.org/drawingml/2006/table">
            <a:tbl>
              <a:tblPr firstRow="1" bandRow="1">
                <a:tableStyleId>{00A15C55-8517-42AA-B614-E9B94910E393}</a:tableStyleId>
              </a:tblPr>
              <a:tblGrid>
                <a:gridCol w="1465179">
                  <a:extLst>
                    <a:ext uri="{9D8B030D-6E8A-4147-A177-3AD203B41FA5}">
                      <a16:colId xmlns:a16="http://schemas.microsoft.com/office/drawing/2014/main" val="1718258765"/>
                    </a:ext>
                  </a:extLst>
                </a:gridCol>
                <a:gridCol w="1317811">
                  <a:extLst>
                    <a:ext uri="{9D8B030D-6E8A-4147-A177-3AD203B41FA5}">
                      <a16:colId xmlns:a16="http://schemas.microsoft.com/office/drawing/2014/main" val="1579173553"/>
                    </a:ext>
                  </a:extLst>
                </a:gridCol>
                <a:gridCol w="1290918">
                  <a:extLst>
                    <a:ext uri="{9D8B030D-6E8A-4147-A177-3AD203B41FA5}">
                      <a16:colId xmlns:a16="http://schemas.microsoft.com/office/drawing/2014/main" val="1899459511"/>
                    </a:ext>
                  </a:extLst>
                </a:gridCol>
                <a:gridCol w="1362635">
                  <a:extLst>
                    <a:ext uri="{9D8B030D-6E8A-4147-A177-3AD203B41FA5}">
                      <a16:colId xmlns:a16="http://schemas.microsoft.com/office/drawing/2014/main" val="1621972259"/>
                    </a:ext>
                  </a:extLst>
                </a:gridCol>
                <a:gridCol w="1335742">
                  <a:extLst>
                    <a:ext uri="{9D8B030D-6E8A-4147-A177-3AD203B41FA5}">
                      <a16:colId xmlns:a16="http://schemas.microsoft.com/office/drawing/2014/main" val="2538138503"/>
                    </a:ext>
                  </a:extLst>
                </a:gridCol>
              </a:tblGrid>
              <a:tr h="58139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MODEL’S</a:t>
                      </a: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ACCURACY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PRECISION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RECALL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F1-SCORE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219368325"/>
                  </a:ext>
                </a:extLst>
              </a:tr>
              <a:tr h="432669">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Logistic Regression</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88.1</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0.89</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142937344"/>
                  </a:ext>
                </a:extLst>
              </a:tr>
              <a:tr h="393309">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Naïve Bayes</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88.4</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0.86</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367216814"/>
                  </a:ext>
                </a:extLst>
              </a:tr>
              <a:tr h="418671">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Extra Tree</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82.8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0.86</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0.82</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0.84</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192080899"/>
                  </a:ext>
                </a:extLst>
              </a:tr>
              <a:tr h="394282">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SVM</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ea typeface="+mn-ea"/>
                          <a:cs typeface="Times New Roman" panose="02020603050405020304" pitchFamily="18" charset="0"/>
                        </a:rPr>
                        <a:t>88.0</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26911151"/>
                  </a:ext>
                </a:extLst>
              </a:tr>
              <a:tr h="403412">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Light GBM</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ea typeface="+mn-ea"/>
                          <a:cs typeface="Times New Roman" panose="02020603050405020304" pitchFamily="18" charset="0"/>
                        </a:rPr>
                        <a:t>87</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0.86</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0.87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898325812"/>
                  </a:ext>
                </a:extLst>
              </a:tr>
            </a:tbl>
          </a:graphicData>
        </a:graphic>
      </p:graphicFrame>
      <p:sp>
        <p:nvSpPr>
          <p:cNvPr id="10" name="TextBox 9">
            <a:extLst>
              <a:ext uri="{FF2B5EF4-FFF2-40B4-BE49-F238E27FC236}">
                <a16:creationId xmlns:a16="http://schemas.microsoft.com/office/drawing/2014/main" id="{96E33BED-50E4-FD83-5AF7-0559F7948257}"/>
              </a:ext>
            </a:extLst>
          </p:cNvPr>
          <p:cNvSpPr txBox="1"/>
          <p:nvPr/>
        </p:nvSpPr>
        <p:spPr>
          <a:xfrm>
            <a:off x="8165514" y="946794"/>
            <a:ext cx="2930244" cy="307777"/>
          </a:xfrm>
          <a:prstGeom prst="rect">
            <a:avLst/>
          </a:prstGeom>
          <a:ln w="19050">
            <a:solidFill>
              <a:schemeClr val="accent4"/>
            </a:solidFill>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algn="ctr">
              <a:defRPr sz="1400" b="0">
                <a:ln w="0"/>
                <a:effectLst>
                  <a:outerShdw blurRad="38100" dist="19050" dir="2700000" algn="tl" rotWithShape="0">
                    <a:schemeClr val="dk1">
                      <a:alpha val="40000"/>
                    </a:schemeClr>
                  </a:outerShdw>
                </a:effectLst>
                <a:latin typeface="Century Gothic" panose="020B050202020202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dirty="0"/>
              <a:t>Experimental Results :</a:t>
            </a:r>
          </a:p>
        </p:txBody>
      </p:sp>
      <p:sp>
        <p:nvSpPr>
          <p:cNvPr id="11" name="TextBox 10">
            <a:extLst>
              <a:ext uri="{FF2B5EF4-FFF2-40B4-BE49-F238E27FC236}">
                <a16:creationId xmlns:a16="http://schemas.microsoft.com/office/drawing/2014/main" id="{00E3980E-2CA1-ECD4-EEDF-AC40D779089E}"/>
              </a:ext>
            </a:extLst>
          </p:cNvPr>
          <p:cNvSpPr txBox="1"/>
          <p:nvPr/>
        </p:nvSpPr>
        <p:spPr>
          <a:xfrm>
            <a:off x="7585138" y="1354670"/>
            <a:ext cx="4393595" cy="1015663"/>
          </a:xfrm>
          <a:prstGeom prst="rect">
            <a:avLst/>
          </a:prstGeom>
          <a:noFill/>
        </p:spPr>
        <p:txBody>
          <a:bodyPr wrap="square">
            <a:spAutoFit/>
          </a:bodyPr>
          <a:lstStyle/>
          <a:p>
            <a:pPr algn="just"/>
            <a:r>
              <a:rPr lang="en-US" sz="1200" b="1" u="sng" dirty="0">
                <a:latin typeface="Century Gothic" panose="020B0502020202020204" pitchFamily="34" charset="0"/>
              </a:rPr>
              <a:t>Extra Tree :</a:t>
            </a:r>
            <a:r>
              <a:rPr lang="en-US" sz="1200" b="1" dirty="0">
                <a:latin typeface="Century Gothic" panose="020B0502020202020204" pitchFamily="34" charset="0"/>
              </a:rPr>
              <a:t> </a:t>
            </a:r>
          </a:p>
          <a:p>
            <a:pPr algn="just"/>
            <a:r>
              <a:rPr lang="en-US" sz="1200" b="1" dirty="0">
                <a:latin typeface="Century Gothic" panose="020B0502020202020204" pitchFamily="34" charset="0"/>
              </a:rPr>
              <a:t> </a:t>
            </a:r>
          </a:p>
          <a:p>
            <a:pPr algn="just"/>
            <a:r>
              <a:rPr lang="en-US" sz="1200" b="1" dirty="0">
                <a:latin typeface="Century Gothic" panose="020B0502020202020204" pitchFamily="34" charset="0"/>
              </a:rPr>
              <a:t>Extra Tree excels with (82.8%) accuracy, precision (1.00) and recall same .</a:t>
            </a:r>
          </a:p>
          <a:p>
            <a:pPr algn="just"/>
            <a:endParaRPr lang="en-IN" sz="1200" b="1" dirty="0">
              <a:latin typeface="Century Gothic" panose="020B0502020202020204" pitchFamily="34" charset="0"/>
            </a:endParaRPr>
          </a:p>
        </p:txBody>
      </p:sp>
      <p:sp>
        <p:nvSpPr>
          <p:cNvPr id="13" name="TextBox 12">
            <a:extLst>
              <a:ext uri="{FF2B5EF4-FFF2-40B4-BE49-F238E27FC236}">
                <a16:creationId xmlns:a16="http://schemas.microsoft.com/office/drawing/2014/main" id="{EA45636B-4BBE-3238-F914-B9D4A0AFD568}"/>
              </a:ext>
            </a:extLst>
          </p:cNvPr>
          <p:cNvSpPr txBox="1"/>
          <p:nvPr/>
        </p:nvSpPr>
        <p:spPr>
          <a:xfrm>
            <a:off x="7585135" y="2220565"/>
            <a:ext cx="4393595" cy="1015663"/>
          </a:xfrm>
          <a:prstGeom prst="rect">
            <a:avLst/>
          </a:prstGeom>
          <a:noFill/>
        </p:spPr>
        <p:txBody>
          <a:bodyPr wrap="square">
            <a:spAutoFit/>
          </a:bodyPr>
          <a:lstStyle/>
          <a:p>
            <a:endParaRPr lang="en-US" sz="400" b="1" u="sng" dirty="0">
              <a:latin typeface="Century Gothic" panose="020B0502020202020204" pitchFamily="34" charset="0"/>
            </a:endParaRPr>
          </a:p>
          <a:p>
            <a:r>
              <a:rPr lang="en-US" sz="1200" b="1" u="sng" dirty="0">
                <a:latin typeface="Century Gothic" panose="020B0502020202020204" pitchFamily="34" charset="0"/>
              </a:rPr>
              <a:t>SVM and Light GBM :</a:t>
            </a:r>
            <a:r>
              <a:rPr lang="en-US" sz="1200" b="1" dirty="0">
                <a:latin typeface="Century Gothic" panose="020B0502020202020204" pitchFamily="34" charset="0"/>
              </a:rPr>
              <a:t> </a:t>
            </a:r>
          </a:p>
          <a:p>
            <a:endParaRPr lang="en-US" sz="800" b="1" dirty="0">
              <a:latin typeface="Century Gothic" panose="020B0502020202020204" pitchFamily="34" charset="0"/>
            </a:endParaRPr>
          </a:p>
          <a:p>
            <a:pPr algn="just"/>
            <a:r>
              <a:rPr lang="en-US" sz="1200" b="1" dirty="0">
                <a:latin typeface="Century Gothic" panose="020B0502020202020204" pitchFamily="34" charset="0"/>
              </a:rPr>
              <a:t>All algorithms maintain a precision of ( 0.88 ) with the only difference being in accuracy. The highest accuracy is achieved by SVM at (88%) .</a:t>
            </a:r>
            <a:endParaRPr lang="en-IN" sz="1200" b="1" dirty="0">
              <a:latin typeface="Century Gothic" panose="020B0502020202020204" pitchFamily="34" charset="0"/>
            </a:endParaRPr>
          </a:p>
        </p:txBody>
      </p:sp>
      <p:sp>
        <p:nvSpPr>
          <p:cNvPr id="14" name="TextBox 13">
            <a:extLst>
              <a:ext uri="{FF2B5EF4-FFF2-40B4-BE49-F238E27FC236}">
                <a16:creationId xmlns:a16="http://schemas.microsoft.com/office/drawing/2014/main" id="{E976855C-2E50-A184-1D68-0AC85CFE5506}"/>
              </a:ext>
            </a:extLst>
          </p:cNvPr>
          <p:cNvSpPr txBox="1"/>
          <p:nvPr/>
        </p:nvSpPr>
        <p:spPr>
          <a:xfrm>
            <a:off x="7585135" y="3159730"/>
            <a:ext cx="4393595" cy="907941"/>
          </a:xfrm>
          <a:prstGeom prst="rect">
            <a:avLst/>
          </a:prstGeom>
          <a:noFill/>
        </p:spPr>
        <p:txBody>
          <a:bodyPr wrap="square">
            <a:spAutoFit/>
          </a:bodyPr>
          <a:lstStyle/>
          <a:p>
            <a:endParaRPr lang="en-US" sz="900" b="1" u="sng" dirty="0">
              <a:latin typeface="Century Gothic" panose="020B0502020202020204" pitchFamily="34" charset="0"/>
            </a:endParaRPr>
          </a:p>
          <a:p>
            <a:r>
              <a:rPr lang="en-US" sz="1200" b="1" u="sng" dirty="0">
                <a:latin typeface="Century Gothic" panose="020B0502020202020204" pitchFamily="34" charset="0"/>
              </a:rPr>
              <a:t>Logistic Regression </a:t>
            </a:r>
            <a:r>
              <a:rPr lang="en-US" sz="1200" b="1" dirty="0">
                <a:latin typeface="Century Gothic" panose="020B0502020202020204" pitchFamily="34" charset="0"/>
              </a:rPr>
              <a:t>:  </a:t>
            </a:r>
          </a:p>
          <a:p>
            <a:endParaRPr lang="en-US" sz="800" b="1" dirty="0">
              <a:latin typeface="Century Gothic" panose="020B0502020202020204" pitchFamily="34" charset="0"/>
            </a:endParaRPr>
          </a:p>
          <a:p>
            <a:r>
              <a:rPr lang="en-US" sz="1200" b="1" dirty="0">
                <a:latin typeface="Century Gothic" panose="020B0502020202020204" pitchFamily="34" charset="0"/>
              </a:rPr>
              <a:t>Logistic Regression achieves (88.1%) accuracy and precision ( 0.89) and recall achieves ( 0.88) .</a:t>
            </a:r>
          </a:p>
        </p:txBody>
      </p:sp>
      <p:pic>
        <p:nvPicPr>
          <p:cNvPr id="15" name="Picture 14">
            <a:extLst>
              <a:ext uri="{FF2B5EF4-FFF2-40B4-BE49-F238E27FC236}">
                <a16:creationId xmlns:a16="http://schemas.microsoft.com/office/drawing/2014/main" id="{2B98D580-BB89-3FF5-E5F4-C76F09C9E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70958" y="764517"/>
            <a:ext cx="523211" cy="523211"/>
          </a:xfrm>
          <a:prstGeom prst="rect">
            <a:avLst/>
          </a:prstGeom>
        </p:spPr>
      </p:pic>
      <p:sp>
        <p:nvSpPr>
          <p:cNvPr id="16" name="TextBox 15">
            <a:extLst>
              <a:ext uri="{FF2B5EF4-FFF2-40B4-BE49-F238E27FC236}">
                <a16:creationId xmlns:a16="http://schemas.microsoft.com/office/drawing/2014/main" id="{E2F07F38-7E77-0327-E543-D3F63C733966}"/>
              </a:ext>
            </a:extLst>
          </p:cNvPr>
          <p:cNvSpPr txBox="1"/>
          <p:nvPr/>
        </p:nvSpPr>
        <p:spPr>
          <a:xfrm>
            <a:off x="2192596" y="4246012"/>
            <a:ext cx="1752641" cy="307777"/>
          </a:xfrm>
          <a:prstGeom prst="rect">
            <a:avLst/>
          </a:prstGeom>
          <a:ln w="19050">
            <a:solidFill>
              <a:schemeClr val="accent4"/>
            </a:solidFill>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ctr">
              <a:defRPr sz="1500" b="1">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r>
              <a:rPr lang="en-US" sz="1400" b="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Understanding</a:t>
            </a:r>
          </a:p>
        </p:txBody>
      </p:sp>
      <p:sp>
        <p:nvSpPr>
          <p:cNvPr id="17" name="TextBox 16">
            <a:extLst>
              <a:ext uri="{FF2B5EF4-FFF2-40B4-BE49-F238E27FC236}">
                <a16:creationId xmlns:a16="http://schemas.microsoft.com/office/drawing/2014/main" id="{44244271-59A7-5A12-244C-5AF7D5D2EE9C}"/>
              </a:ext>
            </a:extLst>
          </p:cNvPr>
          <p:cNvSpPr txBox="1"/>
          <p:nvPr/>
        </p:nvSpPr>
        <p:spPr>
          <a:xfrm>
            <a:off x="567134" y="4957065"/>
            <a:ext cx="6497055" cy="120032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Precision: </a:t>
            </a:r>
            <a:r>
              <a:rPr lang="en-US" sz="1200" dirty="0">
                <a:latin typeface="Times New Roman" panose="02020603050405020304" pitchFamily="18" charset="0"/>
                <a:cs typeface="Times New Roman" panose="02020603050405020304" pitchFamily="18" charset="0"/>
              </a:rPr>
              <a:t>The accuracy of the model when it claims to have found something.</a:t>
            </a:r>
          </a:p>
          <a:p>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Recall: </a:t>
            </a:r>
            <a:r>
              <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Recall: The ability of a model to find all the relevant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F1 Score: </a:t>
            </a:r>
            <a:r>
              <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 balance between recall and precision, useful when both false positives and false negatives need to be minimized.</a:t>
            </a:r>
            <a:endParaRPr kumimoji="0" lang="en-IN"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E963323A-91C1-D9E8-63D0-56D8120C8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170" y="4187410"/>
            <a:ext cx="424980" cy="424980"/>
          </a:xfrm>
          <a:prstGeom prst="rect">
            <a:avLst/>
          </a:prstGeom>
        </p:spPr>
      </p:pic>
      <p:sp>
        <p:nvSpPr>
          <p:cNvPr id="20" name="Rectangle: Rounded Corners 19">
            <a:extLst>
              <a:ext uri="{FF2B5EF4-FFF2-40B4-BE49-F238E27FC236}">
                <a16:creationId xmlns:a16="http://schemas.microsoft.com/office/drawing/2014/main" id="{19A6199F-77FC-2B2A-93F7-63B322359231}"/>
              </a:ext>
            </a:extLst>
          </p:cNvPr>
          <p:cNvSpPr/>
          <p:nvPr/>
        </p:nvSpPr>
        <p:spPr>
          <a:xfrm>
            <a:off x="375500" y="4753522"/>
            <a:ext cx="6891504" cy="1616001"/>
          </a:xfrm>
          <a:prstGeom prst="round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B1D2B329-8A75-F07D-A27A-4661F49EF295}"/>
              </a:ext>
            </a:extLst>
          </p:cNvPr>
          <p:cNvSpPr/>
          <p:nvPr/>
        </p:nvSpPr>
        <p:spPr>
          <a:xfrm>
            <a:off x="7661256" y="4710006"/>
            <a:ext cx="4393595" cy="1659518"/>
          </a:xfrm>
          <a:prstGeom prst="round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AC08D7BA-FE25-4BC3-8315-F48712CD76EC}"/>
              </a:ext>
            </a:extLst>
          </p:cNvPr>
          <p:cNvSpPr txBox="1"/>
          <p:nvPr/>
        </p:nvSpPr>
        <p:spPr>
          <a:xfrm>
            <a:off x="7661256" y="4633899"/>
            <a:ext cx="4309527" cy="1338828"/>
          </a:xfrm>
          <a:prstGeom prst="rect">
            <a:avLst/>
          </a:prstGeom>
          <a:noFill/>
        </p:spPr>
        <p:txBody>
          <a:bodyPr wrap="square">
            <a:spAutoFit/>
          </a:bodyPr>
          <a:lstStyle/>
          <a:p>
            <a:pPr algn="just"/>
            <a:endParaRPr lang="en-US" sz="800" b="1" u="sng" dirty="0">
              <a:latin typeface="Century Gothic" panose="020B0502020202020204" pitchFamily="34" charset="0"/>
            </a:endParaRPr>
          </a:p>
          <a:p>
            <a:pPr algn="just"/>
            <a:r>
              <a:rPr lang="en-US" sz="1100" b="1" u="sng" dirty="0">
                <a:latin typeface="Century Gothic" panose="020B0502020202020204" pitchFamily="34" charset="0"/>
              </a:rPr>
              <a:t>Why should I choose Logistic Regression over other model ? </a:t>
            </a:r>
            <a:r>
              <a:rPr lang="en-US" sz="1100" b="1" dirty="0">
                <a:latin typeface="Century Gothic" panose="020B0502020202020204" pitchFamily="34" charset="0"/>
              </a:rPr>
              <a:t>  </a:t>
            </a:r>
          </a:p>
          <a:p>
            <a:pPr algn="just"/>
            <a:endParaRPr lang="en-US" sz="700" b="1" dirty="0">
              <a:latin typeface="Century Gothic" panose="020B0502020202020204" pitchFamily="34" charset="0"/>
            </a:endParaRPr>
          </a:p>
          <a:p>
            <a:pPr algn="just"/>
            <a:r>
              <a:rPr lang="en-US" sz="1100" b="1" dirty="0">
                <a:latin typeface="Century Gothic" panose="020B0502020202020204" pitchFamily="34" charset="0"/>
              </a:rPr>
              <a:t>Logistic Regression is the best choice because it provides a strong balance between accuracy, generalization, interpretability, and computational efficiency, making it highly suitable for sentiment analysis tasks using textual data.</a:t>
            </a:r>
          </a:p>
        </p:txBody>
      </p:sp>
      <p:sp>
        <p:nvSpPr>
          <p:cNvPr id="7" name="TextBox 6">
            <a:extLst>
              <a:ext uri="{FF2B5EF4-FFF2-40B4-BE49-F238E27FC236}">
                <a16:creationId xmlns:a16="http://schemas.microsoft.com/office/drawing/2014/main" id="{AF17EE9E-1A61-2590-59EA-00BBA90D5C10}"/>
              </a:ext>
            </a:extLst>
          </p:cNvPr>
          <p:cNvSpPr txBox="1"/>
          <p:nvPr/>
        </p:nvSpPr>
        <p:spPr>
          <a:xfrm>
            <a:off x="8751833" y="4286162"/>
            <a:ext cx="2265790" cy="307777"/>
          </a:xfrm>
          <a:prstGeom prst="rect">
            <a:avLst/>
          </a:prstGeom>
          <a:ln w="19050">
            <a:solidFill>
              <a:schemeClr val="accent4"/>
            </a:solidFill>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ctr">
              <a:defRPr sz="1500" b="1">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r>
              <a:rPr lang="en-US" sz="1400" b="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Model Selection Insight</a:t>
            </a:r>
          </a:p>
        </p:txBody>
      </p:sp>
      <p:pic>
        <p:nvPicPr>
          <p:cNvPr id="8" name="Picture 7">
            <a:extLst>
              <a:ext uri="{FF2B5EF4-FFF2-40B4-BE49-F238E27FC236}">
                <a16:creationId xmlns:a16="http://schemas.microsoft.com/office/drawing/2014/main" id="{FC3ABD62-3A8F-3944-E711-8D173BB88808}"/>
              </a:ext>
            </a:extLst>
          </p:cNvPr>
          <p:cNvPicPr>
            <a:picLocks noChangeAspect="1"/>
          </p:cNvPicPr>
          <p:nvPr/>
        </p:nvPicPr>
        <p:blipFill>
          <a:blip r:embed="rId4">
            <a:duotone>
              <a:schemeClr val="accent4">
                <a:shade val="45000"/>
                <a:satMod val="135000"/>
              </a:schemeClr>
              <a:prstClr val="white"/>
            </a:duotone>
            <a:alphaModFix amt="85000"/>
            <a:extLst>
              <a:ext uri="{28A0092B-C50C-407E-A947-70E740481C1C}">
                <a14:useLocalDpi xmlns:a14="http://schemas.microsoft.com/office/drawing/2010/main" val="0"/>
              </a:ext>
            </a:extLst>
          </a:blip>
          <a:stretch>
            <a:fillRect/>
          </a:stretch>
        </p:blipFill>
        <p:spPr>
          <a:xfrm>
            <a:off x="10795617" y="4117878"/>
            <a:ext cx="479871" cy="479871"/>
          </a:xfrm>
          <a:prstGeom prst="rect">
            <a:avLst/>
          </a:prstGeom>
        </p:spPr>
      </p:pic>
    </p:spTree>
    <p:extLst>
      <p:ext uri="{BB962C8B-B14F-4D97-AF65-F5344CB8AC3E}">
        <p14:creationId xmlns:p14="http://schemas.microsoft.com/office/powerpoint/2010/main" val="2845380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63DFA-F599-FFEA-2065-3411C37B2009}"/>
              </a:ext>
            </a:extLst>
          </p:cNvPr>
          <p:cNvSpPr>
            <a:spLocks noGrp="1"/>
          </p:cNvSpPr>
          <p:nvPr>
            <p:ph type="title"/>
          </p:nvPr>
        </p:nvSpPr>
        <p:spPr>
          <a:xfrm>
            <a:off x="651102" y="274955"/>
            <a:ext cx="10889796" cy="731342"/>
          </a:xfrm>
        </p:spPr>
        <p:txBody>
          <a:bodyPr vert="horz" lIns="91440" tIns="45720" rIns="91440" bIns="45720" rtlCol="0" anchor="t">
            <a:noAutofit/>
          </a:bodyPr>
          <a:lstStyle/>
          <a:p>
            <a:pPr algn="ctr"/>
            <a:r>
              <a:rPr lang="en-IN" sz="3200" dirty="0">
                <a:latin typeface="Times New Roman" panose="02020603050405020304" pitchFamily="18" charset="0"/>
                <a:cs typeface="Times New Roman" panose="02020603050405020304" pitchFamily="18" charset="0"/>
              </a:rPr>
              <a:t>Model Comparison</a:t>
            </a:r>
          </a:p>
        </p:txBody>
      </p:sp>
      <p:sp>
        <p:nvSpPr>
          <p:cNvPr id="5" name="Slide Number Placeholder 4">
            <a:extLst>
              <a:ext uri="{FF2B5EF4-FFF2-40B4-BE49-F238E27FC236}">
                <a16:creationId xmlns:a16="http://schemas.microsoft.com/office/drawing/2014/main" id="{891EF9AD-6F87-1193-3A9A-D0E7A3293DBD}"/>
              </a:ext>
            </a:extLst>
          </p:cNvPr>
          <p:cNvSpPr>
            <a:spLocks noGrp="1"/>
          </p:cNvSpPr>
          <p:nvPr>
            <p:ph type="sldNum" sz="quarter" idx="29"/>
          </p:nvPr>
        </p:nvSpPr>
        <p:spPr>
          <a:xfrm>
            <a:off x="11561218" y="6410960"/>
            <a:ext cx="458592" cy="365125"/>
          </a:xfrm>
        </p:spPr>
        <p:txBody>
          <a:bodyPr/>
          <a:lstStyle/>
          <a:p>
            <a:fld id="{47FEACEE-25B4-4A2D-B147-27296E36371D}" type="slidenum">
              <a:rPr lang="en-US" altLang="zh-CN" smtClean="0"/>
              <a:pPr/>
              <a:t>13</a:t>
            </a:fld>
            <a:endParaRPr lang="en-US" altLang="zh-CN" dirty="0"/>
          </a:p>
        </p:txBody>
      </p:sp>
      <p:pic>
        <p:nvPicPr>
          <p:cNvPr id="4" name="Picture 3">
            <a:extLst>
              <a:ext uri="{FF2B5EF4-FFF2-40B4-BE49-F238E27FC236}">
                <a16:creationId xmlns:a16="http://schemas.microsoft.com/office/drawing/2014/main" id="{7608315D-822F-073F-9BD1-25F5C270B05F}"/>
              </a:ext>
            </a:extLst>
          </p:cNvPr>
          <p:cNvPicPr>
            <a:picLocks noChangeAspect="1"/>
          </p:cNvPicPr>
          <p:nvPr/>
        </p:nvPicPr>
        <p:blipFill>
          <a:blip r:embed="rId2"/>
          <a:stretch>
            <a:fillRect/>
          </a:stretch>
        </p:blipFill>
        <p:spPr>
          <a:xfrm>
            <a:off x="1202659" y="880792"/>
            <a:ext cx="10091479" cy="5404662"/>
          </a:xfrm>
          <a:prstGeom prst="rect">
            <a:avLst/>
          </a:prstGeom>
          <a:noFill/>
          <a:ln w="9525">
            <a:solidFill>
              <a:schemeClr val="accent4"/>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75344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2F28A2-F000-44B8-BB24-C18CE1E61937}"/>
              </a:ext>
            </a:extLst>
          </p:cNvPr>
          <p:cNvSpPr>
            <a:spLocks noGrp="1"/>
          </p:cNvSpPr>
          <p:nvPr>
            <p:ph type="sldNum" sz="quarter" idx="12"/>
          </p:nvPr>
        </p:nvSpPr>
        <p:spPr>
          <a:xfrm>
            <a:off x="11575894" y="6387135"/>
            <a:ext cx="458592" cy="365125"/>
          </a:xfrm>
        </p:spPr>
        <p:txBody>
          <a:bodyPr/>
          <a:lstStyle/>
          <a:p>
            <a:fld id="{FEFB1823-63EE-423F-9C0B-A09E9E56188F}" type="slidenum">
              <a:rPr lang="en-IN" smtClean="0"/>
              <a:t>14</a:t>
            </a:fld>
            <a:endParaRPr lang="en-IN" dirty="0"/>
          </a:p>
        </p:txBody>
      </p:sp>
      <p:sp>
        <p:nvSpPr>
          <p:cNvPr id="4" name="TextBox 3">
            <a:extLst>
              <a:ext uri="{FF2B5EF4-FFF2-40B4-BE49-F238E27FC236}">
                <a16:creationId xmlns:a16="http://schemas.microsoft.com/office/drawing/2014/main" id="{E883AA81-9604-5801-B645-3F0A362638A7}"/>
              </a:ext>
            </a:extLst>
          </p:cNvPr>
          <p:cNvSpPr txBox="1"/>
          <p:nvPr/>
        </p:nvSpPr>
        <p:spPr>
          <a:xfrm>
            <a:off x="687295" y="834739"/>
            <a:ext cx="2881516" cy="538609"/>
          </a:xfrm>
          <a:prstGeom prst="rect">
            <a:avLst/>
          </a:prstGeom>
          <a:noFill/>
        </p:spPr>
        <p:txBody>
          <a:bodyPr wrap="square">
            <a:spAutoFit/>
          </a:bodyPr>
          <a:lstStyle/>
          <a:p>
            <a:pPr algn="ctr"/>
            <a:r>
              <a:rPr lang="en-IN" sz="24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rPr>
              <a:t>Key</a:t>
            </a:r>
            <a:r>
              <a:rPr lang="en-IN" sz="28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rPr>
              <a:t> </a:t>
            </a:r>
            <a:r>
              <a:rPr lang="en-IN" sz="24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rPr>
              <a:t>Findings</a:t>
            </a:r>
            <a:endParaRPr lang="en-IN" sz="28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endParaRPr>
          </a:p>
        </p:txBody>
      </p:sp>
      <p:sp>
        <p:nvSpPr>
          <p:cNvPr id="5" name="TextBox 4">
            <a:extLst>
              <a:ext uri="{FF2B5EF4-FFF2-40B4-BE49-F238E27FC236}">
                <a16:creationId xmlns:a16="http://schemas.microsoft.com/office/drawing/2014/main" id="{F7635B4B-F71C-16CF-5225-900B38CAFAA8}"/>
              </a:ext>
            </a:extLst>
          </p:cNvPr>
          <p:cNvSpPr txBox="1"/>
          <p:nvPr/>
        </p:nvSpPr>
        <p:spPr>
          <a:xfrm>
            <a:off x="687295" y="2810419"/>
            <a:ext cx="2808312" cy="538609"/>
          </a:xfrm>
          <a:prstGeom prst="rect">
            <a:avLst/>
          </a:prstGeom>
          <a:noFill/>
        </p:spPr>
        <p:txBody>
          <a:bodyPr wrap="square">
            <a:spAutoFit/>
          </a:bodyPr>
          <a:lstStyle>
            <a:defPPr>
              <a:defRPr lang="zh-CN"/>
            </a:defPPr>
            <a:lvl1pPr algn="ctr">
              <a:defRPr sz="2400" b="1">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defRPr>
            </a:lvl1pPr>
          </a:lstStyle>
          <a:p>
            <a:r>
              <a:rPr lang="en-IN" dirty="0"/>
              <a:t>Limitations</a:t>
            </a:r>
          </a:p>
        </p:txBody>
      </p:sp>
      <p:sp>
        <p:nvSpPr>
          <p:cNvPr id="6" name="TextBox 5">
            <a:extLst>
              <a:ext uri="{FF2B5EF4-FFF2-40B4-BE49-F238E27FC236}">
                <a16:creationId xmlns:a16="http://schemas.microsoft.com/office/drawing/2014/main" id="{E59D6719-F19A-7360-50AB-B163854E7109}"/>
              </a:ext>
            </a:extLst>
          </p:cNvPr>
          <p:cNvSpPr txBox="1"/>
          <p:nvPr/>
        </p:nvSpPr>
        <p:spPr>
          <a:xfrm>
            <a:off x="512079" y="5079020"/>
            <a:ext cx="4032448" cy="461665"/>
          </a:xfrm>
          <a:prstGeom prst="rect">
            <a:avLst/>
          </a:prstGeom>
          <a:noFill/>
        </p:spPr>
        <p:txBody>
          <a:bodyPr wrap="square">
            <a:spAutoFit/>
          </a:bodyPr>
          <a:lstStyle>
            <a:defPPr>
              <a:defRPr lang="zh-CN"/>
            </a:defPPr>
            <a:lvl1pPr algn="ctr">
              <a:defRPr sz="2400" b="1">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defRPr>
            </a:lvl1pPr>
          </a:lstStyle>
          <a:p>
            <a:r>
              <a:rPr lang="en-IN" dirty="0"/>
              <a:t>Future research</a:t>
            </a:r>
          </a:p>
        </p:txBody>
      </p:sp>
      <p:sp>
        <p:nvSpPr>
          <p:cNvPr id="7" name="TextBox 6">
            <a:extLst>
              <a:ext uri="{FF2B5EF4-FFF2-40B4-BE49-F238E27FC236}">
                <a16:creationId xmlns:a16="http://schemas.microsoft.com/office/drawing/2014/main" id="{7F13B935-92DC-4EA9-2C8B-2B85530A4FFC}"/>
              </a:ext>
            </a:extLst>
          </p:cNvPr>
          <p:cNvSpPr txBox="1"/>
          <p:nvPr/>
        </p:nvSpPr>
        <p:spPr>
          <a:xfrm>
            <a:off x="417290" y="5605648"/>
            <a:ext cx="9237693" cy="95410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algn="just"/>
            <a:r>
              <a:rPr lang="en-US" dirty="0"/>
              <a:t>To improve the accuracy and reliability of sentiment analysis, future research should focus on building robust and interpretable models. It is important to address challenges such as noisy text, fake reviews, and class imbalance, while incorporating advanced techniques like deep learning and contextual embeddings. Validating the model on diverse, real-world datasets will further enhance its effectiveness for data-driven decision-making.</a:t>
            </a:r>
            <a:endParaRPr lang="en-IN" dirty="0"/>
          </a:p>
        </p:txBody>
      </p:sp>
      <p:pic>
        <p:nvPicPr>
          <p:cNvPr id="9" name="Picture 8">
            <a:extLst>
              <a:ext uri="{FF2B5EF4-FFF2-40B4-BE49-F238E27FC236}">
                <a16:creationId xmlns:a16="http://schemas.microsoft.com/office/drawing/2014/main" id="{68961C27-16A5-E259-4B6B-ECFCAF1E06D2}"/>
              </a:ext>
            </a:extLst>
          </p:cNvPr>
          <p:cNvPicPr>
            <a:picLocks noChangeAspect="1"/>
          </p:cNvPicPr>
          <p:nvPr/>
        </p:nvPicPr>
        <p:blipFill>
          <a:blip r:embed="rId2">
            <a:duotone>
              <a:schemeClr val="accent4">
                <a:shade val="45000"/>
                <a:satMod val="135000"/>
              </a:schemeClr>
              <a:prstClr val="white"/>
            </a:duotone>
            <a:alphaModFix amt="85000"/>
            <a:extLst>
              <a:ext uri="{28A0092B-C50C-407E-A947-70E740481C1C}">
                <a14:useLocalDpi xmlns:a14="http://schemas.microsoft.com/office/drawing/2010/main" val="0"/>
              </a:ext>
            </a:extLst>
          </a:blip>
          <a:stretch>
            <a:fillRect/>
          </a:stretch>
        </p:blipFill>
        <p:spPr>
          <a:xfrm>
            <a:off x="417295" y="813406"/>
            <a:ext cx="540000" cy="540000"/>
          </a:xfrm>
          <a:prstGeom prst="rect">
            <a:avLst/>
          </a:prstGeom>
        </p:spPr>
      </p:pic>
      <p:sp>
        <p:nvSpPr>
          <p:cNvPr id="10" name="TextBox 9">
            <a:extLst>
              <a:ext uri="{FF2B5EF4-FFF2-40B4-BE49-F238E27FC236}">
                <a16:creationId xmlns:a16="http://schemas.microsoft.com/office/drawing/2014/main" id="{E51D404B-BBD5-7BAF-9A00-BB8615679084}"/>
              </a:ext>
            </a:extLst>
          </p:cNvPr>
          <p:cNvSpPr txBox="1"/>
          <p:nvPr/>
        </p:nvSpPr>
        <p:spPr>
          <a:xfrm>
            <a:off x="417294" y="1508246"/>
            <a:ext cx="9237693" cy="307777"/>
          </a:xfrm>
          <a:prstGeom prst="rect">
            <a:avLst/>
          </a:prstGeom>
          <a:solidFill>
            <a:schemeClr val="accent4">
              <a:lumMod val="60000"/>
              <a:lumOff val="40000"/>
            </a:schemeClr>
          </a:solidFill>
        </p:spPr>
        <p:txBody>
          <a:bodyPr wrap="square">
            <a:spAutoFit/>
          </a:bodyPr>
          <a:lstStyle>
            <a:defPPr>
              <a:defRPr lang="en-US"/>
            </a:defPPr>
            <a:lvl1pPr>
              <a:defRPr sz="1400" b="1"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b="0" dirty="0">
                <a:solidFill>
                  <a:schemeClr val="tx1"/>
                </a:solidFill>
                <a:latin typeface="Times New Roman" panose="02020603050405020304" pitchFamily="18" charset="0"/>
                <a:cs typeface="Times New Roman" panose="02020603050405020304" pitchFamily="18" charset="0"/>
              </a:rPr>
              <a:t>Logistic Regression model demonstrated the optimal accuracy of 99.9%  in predicting sentiment analysis of product reviews .</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49C3A1B-5823-FB4E-D182-D76481E912DB}"/>
              </a:ext>
            </a:extLst>
          </p:cNvPr>
          <p:cNvSpPr txBox="1"/>
          <p:nvPr/>
        </p:nvSpPr>
        <p:spPr>
          <a:xfrm>
            <a:off x="417294" y="1870159"/>
            <a:ext cx="9237693" cy="523220"/>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study utilized a Product Review dataset and applied multiple machine learning models using </a:t>
            </a:r>
            <a:r>
              <a:rPr lang="en-US" dirty="0" err="1"/>
              <a:t>Jupyter</a:t>
            </a:r>
            <a:r>
              <a:rPr lang="en-US" dirty="0"/>
              <a:t> Notebook to analyze and classify customer sentiment.</a:t>
            </a:r>
            <a:endParaRPr lang="en-IN" dirty="0"/>
          </a:p>
        </p:txBody>
      </p:sp>
      <p:sp>
        <p:nvSpPr>
          <p:cNvPr id="12" name="TextBox 11">
            <a:extLst>
              <a:ext uri="{FF2B5EF4-FFF2-40B4-BE49-F238E27FC236}">
                <a16:creationId xmlns:a16="http://schemas.microsoft.com/office/drawing/2014/main" id="{26E609C4-49A4-CD60-F30A-0378294218AE}"/>
              </a:ext>
            </a:extLst>
          </p:cNvPr>
          <p:cNvSpPr txBox="1"/>
          <p:nvPr/>
        </p:nvSpPr>
        <p:spPr>
          <a:xfrm>
            <a:off x="417294" y="2451371"/>
            <a:ext cx="9237693" cy="30777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Some models showed strong performance, with accuracy ranging from 88.4% (Naïve Bayes) to 82% (Extra Tree) .</a:t>
            </a:r>
            <a:endParaRPr lang="en-IN" dirty="0"/>
          </a:p>
        </p:txBody>
      </p:sp>
      <p:sp>
        <p:nvSpPr>
          <p:cNvPr id="13" name="Title 1">
            <a:extLst>
              <a:ext uri="{FF2B5EF4-FFF2-40B4-BE49-F238E27FC236}">
                <a16:creationId xmlns:a16="http://schemas.microsoft.com/office/drawing/2014/main" id="{5C268E90-567A-4058-D68B-7196BFE53C73}"/>
              </a:ext>
            </a:extLst>
          </p:cNvPr>
          <p:cNvSpPr txBox="1">
            <a:spLocks/>
          </p:cNvSpPr>
          <p:nvPr/>
        </p:nvSpPr>
        <p:spPr>
          <a:xfrm>
            <a:off x="762965" y="158930"/>
            <a:ext cx="10889796" cy="735518"/>
          </a:xfrm>
          <a:prstGeom prst="rect">
            <a:avLst/>
          </a:prstGeom>
        </p:spPr>
        <p:txBody>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ctr"/>
            <a:r>
              <a:rPr lang="en-IN" sz="4000"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236A137-DE6C-E76F-D1A0-7E107CD68E2D}"/>
              </a:ext>
            </a:extLst>
          </p:cNvPr>
          <p:cNvSpPr txBox="1"/>
          <p:nvPr/>
        </p:nvSpPr>
        <p:spPr>
          <a:xfrm>
            <a:off x="417293" y="3336633"/>
            <a:ext cx="9237693" cy="523220"/>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study is based on a single, relatively small product review dataset, which may limit its generalizability across diverse products, categories, and price ranges.</a:t>
            </a:r>
            <a:endParaRPr lang="en-IN" dirty="0"/>
          </a:p>
        </p:txBody>
      </p:sp>
      <p:sp>
        <p:nvSpPr>
          <p:cNvPr id="15" name="TextBox 14">
            <a:extLst>
              <a:ext uri="{FF2B5EF4-FFF2-40B4-BE49-F238E27FC236}">
                <a16:creationId xmlns:a16="http://schemas.microsoft.com/office/drawing/2014/main" id="{3D721C68-DCAC-DA4A-7731-35184DEBBCDC}"/>
              </a:ext>
            </a:extLst>
          </p:cNvPr>
          <p:cNvSpPr txBox="1"/>
          <p:nvPr/>
        </p:nvSpPr>
        <p:spPr>
          <a:xfrm>
            <a:off x="417290" y="3901607"/>
            <a:ext cx="9237693" cy="523220"/>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model primarily relies on textual features and basic metadata, potentially overlooking deeper contextual aspects such as sarcasm, user intent, evolving language patterns, and domain-specific sentiment variations.</a:t>
            </a:r>
            <a:endParaRPr lang="en-IN" dirty="0"/>
          </a:p>
        </p:txBody>
      </p:sp>
      <p:sp>
        <p:nvSpPr>
          <p:cNvPr id="16" name="TextBox 15">
            <a:extLst>
              <a:ext uri="{FF2B5EF4-FFF2-40B4-BE49-F238E27FC236}">
                <a16:creationId xmlns:a16="http://schemas.microsoft.com/office/drawing/2014/main" id="{BA805FA7-5129-D97B-315D-D6892F10DE9A}"/>
              </a:ext>
            </a:extLst>
          </p:cNvPr>
          <p:cNvSpPr txBox="1"/>
          <p:nvPr/>
        </p:nvSpPr>
        <p:spPr>
          <a:xfrm>
            <a:off x="417291" y="4464905"/>
            <a:ext cx="9237693" cy="523220"/>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model requires further validation on independent and larger real-world datasets to ensure robustness, scalability, and practical applicability.</a:t>
            </a:r>
            <a:endParaRPr lang="en-IN" dirty="0"/>
          </a:p>
        </p:txBody>
      </p:sp>
      <p:pic>
        <p:nvPicPr>
          <p:cNvPr id="19" name="Picture 18">
            <a:extLst>
              <a:ext uri="{FF2B5EF4-FFF2-40B4-BE49-F238E27FC236}">
                <a16:creationId xmlns:a16="http://schemas.microsoft.com/office/drawing/2014/main" id="{11BB632C-E35B-16BD-6D89-82FB36196557}"/>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57509" y="2822238"/>
            <a:ext cx="446856" cy="446856"/>
          </a:xfrm>
          <a:prstGeom prst="rect">
            <a:avLst/>
          </a:prstGeom>
        </p:spPr>
      </p:pic>
      <p:pic>
        <p:nvPicPr>
          <p:cNvPr id="20" name="Picture 19">
            <a:extLst>
              <a:ext uri="{FF2B5EF4-FFF2-40B4-BE49-F238E27FC236}">
                <a16:creationId xmlns:a16="http://schemas.microsoft.com/office/drawing/2014/main" id="{F8F748D7-F555-1EFC-8AEB-41FDDC9706F8}"/>
              </a:ext>
            </a:extLst>
          </p:cNvPr>
          <p:cNvPicPr>
            <a:picLocks noChangeAspect="1"/>
          </p:cNvPicPr>
          <p:nvPr/>
        </p:nvPicPr>
        <p:blipFill>
          <a:blip r:embed="rId4">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483442" y="5075309"/>
            <a:ext cx="461665" cy="461665"/>
          </a:xfrm>
          <a:prstGeom prst="rect">
            <a:avLst/>
          </a:prstGeom>
        </p:spPr>
      </p:pic>
    </p:spTree>
    <p:extLst>
      <p:ext uri="{BB962C8B-B14F-4D97-AF65-F5344CB8AC3E}">
        <p14:creationId xmlns:p14="http://schemas.microsoft.com/office/powerpoint/2010/main" val="2191888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96EBFE-73C9-D62B-F078-77813C5313AF}"/>
              </a:ext>
            </a:extLst>
          </p:cNvPr>
          <p:cNvSpPr>
            <a:spLocks noGrp="1"/>
          </p:cNvSpPr>
          <p:nvPr>
            <p:ph type="title"/>
          </p:nvPr>
        </p:nvSpPr>
        <p:spPr>
          <a:xfrm>
            <a:off x="6608090" y="2532146"/>
            <a:ext cx="5055698" cy="1325563"/>
          </a:xfrm>
        </p:spPr>
        <p:txBody>
          <a:bodyPr anchor="ctr"/>
          <a:lstStyle/>
          <a:p>
            <a:pPr algn="ctr"/>
            <a:r>
              <a:rPr lang="en-IN"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00148918"/>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515263-A3DE-4193-B6AA-5C449C94519F}">
  <ds:schemaRefs>
    <ds:schemaRef ds:uri="http://schemas.microsoft.com/sharepoint/v3/contenttype/forms"/>
  </ds:schemaRefs>
</ds:datastoreItem>
</file>

<file path=customXml/itemProps3.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3856</TotalTime>
  <Words>2044</Words>
  <Application>Microsoft Office PowerPoint</Application>
  <PresentationFormat>Widescreen</PresentationFormat>
  <Paragraphs>232</Paragraphs>
  <Slides>15</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vt:i4>
      </vt:variant>
    </vt:vector>
  </HeadingPairs>
  <TitlesOfParts>
    <vt:vector size="30" baseType="lpstr">
      <vt:lpstr>等线</vt:lpstr>
      <vt:lpstr>Abadi</vt:lpstr>
      <vt:lpstr>Arial</vt:lpstr>
      <vt:lpstr>Calibri</vt:lpstr>
      <vt:lpstr>Century Gothic</vt:lpstr>
      <vt:lpstr>Consolas</vt:lpstr>
      <vt:lpstr>Copperplate Gothic Bold</vt:lpstr>
      <vt:lpstr>Courier New</vt:lpstr>
      <vt:lpstr>Inter</vt:lpstr>
      <vt:lpstr>Posterama</vt:lpstr>
      <vt:lpstr>Posterama Text Black</vt:lpstr>
      <vt:lpstr>Posterama Text SemiBold</vt:lpstr>
      <vt:lpstr>Times New Roman</vt:lpstr>
      <vt:lpstr>Times New Roman Condensed Bold</vt:lpstr>
      <vt:lpstr>Custom​​</vt:lpstr>
      <vt:lpstr>PRODUCT REVIEW SENTIMENT ANALYSIS</vt:lpstr>
      <vt:lpstr>INDEX</vt:lpstr>
      <vt:lpstr>INTRODUCTION</vt:lpstr>
      <vt:lpstr>PowerPoint Presentation</vt:lpstr>
      <vt:lpstr>PowerPoint Presentation</vt:lpstr>
      <vt:lpstr>PowerPoint Presentation</vt:lpstr>
      <vt:lpstr>PowerPoint Presentation</vt:lpstr>
      <vt:lpstr>PowerPoint Presentation</vt:lpstr>
      <vt:lpstr>PowerPoint Presentation</vt:lpstr>
      <vt:lpstr>TRAIN – TEST SPLIT</vt:lpstr>
      <vt:lpstr>PowerPoint Presentation</vt:lpstr>
      <vt:lpstr>Model Evaluation</vt:lpstr>
      <vt:lpstr>Model Comparison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 – COMMERCE  (ONLINE SHOPPING)</dc:title>
  <dc:creator>Nitin R</dc:creator>
  <cp:lastModifiedBy>Nitin R</cp:lastModifiedBy>
  <cp:revision>16</cp:revision>
  <dcterms:created xsi:type="dcterms:W3CDTF">2024-03-08T15:22:20Z</dcterms:created>
  <dcterms:modified xsi:type="dcterms:W3CDTF">2026-03-30T13:30:34Z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